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2858750"/>
  <p:notesSz cx="10287000" cy="1285875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7228284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7228284"/>
            <a:ext cx="10572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01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915400" cy="4513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8064" b="1" spc="-161" dirty="0">
                <a:solidFill>
                  <a:srgbClr val="141419"/>
                </a:solidFill>
                <a:latin typeface="Archivo"/>
                <a:cs typeface="Archivo"/>
              </a:rPr>
              <a:t>Stop</a:t>
            </a:r>
          </a:p>
          <a:p>
            <a:pPr algn="l">
              <a:lnSpc>
                <a:spcPct val="104000"/>
              </a:lnSpc>
            </a:pPr>
            <a:r>
              <a:rPr lang="en-US" sz="8064" b="1" spc="-161" dirty="0">
                <a:solidFill>
                  <a:srgbClr val="141419"/>
                </a:solidFill>
                <a:latin typeface="Archivo"/>
                <a:cs typeface="Archivo"/>
              </a:rPr>
              <a:t>prompting.</a:t>
            </a:r>
          </a:p>
          <a:p>
            <a:pPr algn="l">
              <a:lnSpc>
                <a:spcPct val="104000"/>
              </a:lnSpc>
            </a:pPr>
            <a:r>
              <a:rPr lang="en-US" sz="8064" b="1" spc="-161" dirty="0">
                <a:solidFill>
                  <a:srgbClr val="141419"/>
                </a:solidFill>
                <a:latin typeface="Archivo"/>
                <a:cs typeface="Archivo"/>
              </a:rPr>
              <a:t>Start</a:t>
            </a:r>
          </a:p>
          <a:p>
            <a:pPr algn="l">
              <a:lnSpc>
                <a:spcPct val="104000"/>
              </a:lnSpc>
            </a:pPr>
            <a:r>
              <a:rPr lang="en-US" sz="8064" b="1" spc="-161" dirty="0">
                <a:solidFill>
                  <a:srgbClr val="141419"/>
                </a:solidFill>
                <a:latin typeface="Archivo"/>
                <a:cs typeface="Archivo"/>
              </a:rPr>
              <a:t>orchestrating</a:t>
            </a:r>
            <a:r>
              <a:rPr lang="en-US" sz="8064" b="1" spc="-161" dirty="0">
                <a:solidFill>
                  <a:srgbClr val="2E6BFF"/>
                </a:solidFill>
                <a:latin typeface="Archivo"/>
                <a:cs typeface="Archivo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7666434"/>
            <a:ext cx="78867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The step that turns Claude Code from a fast assistant into an engineering process.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96393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9639300"/>
            <a:ext cx="21145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02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5014168"/>
            <a:ext cx="8915400" cy="24040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8720" b="0" spc="-468" dirty="0">
                <a:solidFill>
                  <a:srgbClr val="141419"/>
                </a:solidFill>
                <a:latin typeface="Archivo Black"/>
                <a:cs typeface="Archivo Black"/>
              </a:rPr>
              <a:t>solo</a:t>
            </a:r>
            <a:r>
              <a:rPr lang="en-US" sz="18720" b="0" spc="-468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7837289"/>
            <a:ext cx="86487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One context is</a:t>
            </a:r>
          </a:p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one opinion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14400" y="10115550"/>
            <a:ext cx="78867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A single agent writes the code, then grades its own work. It defends its first idea to the end of the context window — the same trap that makes authors bad reviewers of their own code.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4097536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4097536"/>
            <a:ext cx="31718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03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6487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What the orchestration</a:t>
            </a:r>
          </a:p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step looks like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4840486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141419"/>
                </a:solidFill>
                <a:latin typeface="IBM Plex Mono"/>
                <a:cs typeface="IBM Plex Mono"/>
              </a:rPr>
              <a:t>SCOUT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4057650" y="4840486"/>
            <a:ext cx="57721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map the codebase in parallel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14400" y="5592961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141419"/>
                </a:solidFill>
                <a:latin typeface="IBM Plex Mono"/>
                <a:cs typeface="IBM Plex Mono"/>
              </a:rPr>
              <a:t>FAN OUT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057650" y="5592961"/>
            <a:ext cx="4532114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one agent per concern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14400" y="6345436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141419"/>
                </a:solidFill>
                <a:latin typeface="IBM Plex Mono"/>
                <a:cs typeface="IBM Plex Mono"/>
              </a:rPr>
              <a:t>VERIFY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057650" y="6345436"/>
            <a:ext cx="57721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skeptics refute each finding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914400" y="7097911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2E6BFF"/>
                </a:solidFill>
                <a:latin typeface="IBM Plex Mono"/>
                <a:cs typeface="IBM Plex Mono"/>
              </a:rPr>
              <a:t>MERGE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057650" y="7097911"/>
            <a:ext cx="435486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one ranked synthesis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340608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3406080"/>
            <a:ext cx="42291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04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6487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When to reach for it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4206180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962150" y="4072830"/>
            <a:ext cx="58864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The work outgrows one context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14400" y="5120580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962150" y="4987230"/>
            <a:ext cx="65055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Findings need independent checks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14400" y="6034980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03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962150" y="5901630"/>
            <a:ext cx="62674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The task splits along clean seams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914400" y="6949380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04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1962150" y="6816030"/>
            <a:ext cx="48482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Being wrong is expensive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118872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11887200"/>
            <a:ext cx="52863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5133975" y="4865489"/>
            <a:ext cx="9525" cy="3346847"/>
          </a:xfrm>
          <a:prstGeom prst="rect">
            <a:avLst/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05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4865489"/>
            <a:ext cx="415290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744" b="1" spc="-37" dirty="0">
                <a:solidFill>
                  <a:srgbClr val="2E6BFF"/>
                </a:solidFill>
                <a:latin typeface="Archivo"/>
                <a:cs typeface="Archivo"/>
              </a:rPr>
              <a:t>Orchestrate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14400" y="5751314"/>
            <a:ext cx="4152900" cy="2537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Codebase audits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Wide migrations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Adversarial review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Research sweeps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5686425" y="4865489"/>
            <a:ext cx="414337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744" b="1" spc="-37" dirty="0">
                <a:solidFill>
                  <a:srgbClr val="141419"/>
                </a:solidFill>
                <a:latin typeface="Archivo"/>
                <a:cs typeface="Archivo"/>
              </a:rPr>
              <a:t>Stay solo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686425" y="5751314"/>
            <a:ext cx="4143375" cy="2537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One-file fixes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Quick questions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Exploration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Anything cheap to redo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7281862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5555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7281862"/>
            <a:ext cx="63436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DFDFE4"/>
                </a:solidFill>
                <a:latin typeface="IBM Plex Sans"/>
                <a:cs typeface="IBM Plex Sans"/>
              </a:rPr>
              <a:t>06 — 08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3890962"/>
            <a:ext cx="89154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F5F5F5"/>
                </a:solidFill>
                <a:latin typeface="Archivo"/>
                <a:cs typeface="Archivo"/>
              </a:rPr>
              <a:t>Orchestration</a:t>
            </a:r>
          </a:p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F5F5F5"/>
                </a:solidFill>
                <a:latin typeface="Archivo"/>
                <a:cs typeface="Archivo"/>
              </a:rPr>
              <a:t>isn't speed.</a:t>
            </a:r>
          </a:p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F5F5F5"/>
                </a:solidFill>
                <a:latin typeface="Archivo"/>
                <a:cs typeface="Archivo"/>
              </a:rPr>
              <a:t>It's doubt</a:t>
            </a:r>
            <a:r>
              <a:rPr lang="en-US" sz="7200" b="1" spc="-144" dirty="0">
                <a:solidFill>
                  <a:srgbClr val="2E6BFF"/>
                </a:solidFill>
                <a:latin typeface="Archivo"/>
                <a:cs typeface="Archivo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7720012"/>
            <a:ext cx="78867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DFDFE4"/>
                </a:solidFill>
                <a:latin typeface="IBM Plex Sans"/>
                <a:cs typeface="IBM Plex Sans"/>
              </a:rPr>
              <a:t>Parallel agents don't just finish sooner. They disagree — and the disagreement is the signal.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118872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11887200"/>
            <a:ext cx="74009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07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5407521"/>
            <a:ext cx="8458200" cy="23389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US" sz="4320" b="1" spc="-22" dirty="0">
                <a:solidFill>
                  <a:srgbClr val="141419"/>
                </a:solidFill>
                <a:latin typeface="IBM Plex Sans"/>
                <a:cs typeface="IBM Plex Sans"/>
              </a:rPr>
              <a:t>“An agent reviewing its own work is one opinion counted twice.”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4772025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4772025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08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915400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141419"/>
                </a:solidFill>
                <a:latin typeface="Archivo"/>
                <a:cs typeface="Archivo"/>
              </a:rPr>
              <a:t>Ship the process,</a:t>
            </a:r>
          </a:p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141419"/>
                </a:solidFill>
                <a:latin typeface="Archivo"/>
                <a:cs typeface="Archivo"/>
              </a:rPr>
              <a:t>not the prompt</a:t>
            </a:r>
            <a:r>
              <a:rPr lang="en-US" sz="7200" b="1" spc="-144" dirty="0">
                <a:solidFill>
                  <a:srgbClr val="2E6BFF"/>
                </a:solidFill>
                <a:latin typeface="Archivo"/>
                <a:cs typeface="Archivo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5210175"/>
            <a:ext cx="78867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Want the full Night Ace orchestra for Claude Code — agents, commands, and the playbook? Comment “ACE” and we'll send you the package.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NightAce">
  <a:themeElements>
    <a:clrScheme name="NightAce">
      <a:dk1>
        <a:srgbClr val="141419"/>
      </a:dk1>
      <a:lt1>
        <a:srgbClr val="F5F5F5"/>
      </a:lt1>
      <a:dk2>
        <a:srgbClr val="55555C"/>
      </a:dk2>
      <a:lt2>
        <a:srgbClr val="DFDFE4"/>
      </a:lt2>
      <a:accent1>
        <a:srgbClr val="2E6BFF"/>
      </a:accent1>
      <a:accent2>
        <a:srgbClr val="2E6BFF"/>
      </a:accent2>
      <a:accent3>
        <a:srgbClr val="2E6BFF"/>
      </a:accent3>
      <a:accent4>
        <a:srgbClr val="2E6BFF"/>
      </a:accent4>
      <a:accent5>
        <a:srgbClr val="2E6BFF"/>
      </a:accent5>
      <a:accent6>
        <a:srgbClr val="2E6BFF"/>
      </a:accent6>
      <a:hlink>
        <a:srgbClr val="2E6BFF"/>
      </a:hlink>
      <a:folHlink>
        <a:srgbClr val="7C5CFF"/>
      </a:folHlink>
    </a:clrScheme>
    <a:fontScheme name="NightAce">
      <a:majorFont>
        <a:latin typeface="Archivo Black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