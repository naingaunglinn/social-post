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0287000" cy="12858750"/>
  <p:notesSz cx="10287000" cy="1285875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ordmark"/>
          <p:cNvSpPr txBox="1"/>
          <p:nvPr/>
        </p:nvSpPr>
        <p:spPr>
          <a:xfrm>
            <a:off x="914400" y="914400"/>
            <a:ext cx="1759595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84" b="1" spc="222" dirty="0">
                <a:solidFill>
                  <a:srgbClr val="141419"/>
                </a:solidFill>
                <a:latin typeface="IBM Plex Mono"/>
                <a:cs typeface="IBM Plex Mono"/>
              </a:rPr>
              <a:t>NIGHT ACE</a:t>
            </a:r>
          </a:p>
        </p:txBody>
      </p:sp>
      <p:sp>
        <p:nvSpPr>
          <p:cNvPr id="4" name="pageno"/>
          <p:cNvSpPr txBox="1"/>
          <p:nvPr/>
        </p:nvSpPr>
        <p:spPr>
          <a:xfrm>
            <a:off x="8300442" y="914400"/>
            <a:ext cx="1453158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584" b="1" spc="222" dirty="0">
                <a:solidFill>
                  <a:srgbClr val="55555C"/>
                </a:solidFill>
                <a:latin typeface="IBM Plex Mono"/>
                <a:cs typeface="IBM Plex Mono"/>
              </a:rPr>
              <a:t>01 — 08</a:t>
            </a:r>
          </a:p>
        </p:txBody>
      </p:sp>
      <p:sp>
        <p:nvSpPr>
          <p:cNvPr id="5" name="giant"/>
          <p:cNvSpPr txBox="1"/>
          <p:nvPr/>
        </p:nvSpPr>
        <p:spPr>
          <a:xfrm>
            <a:off x="914400" y="6529834"/>
            <a:ext cx="9029700" cy="251147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4000"/>
              </a:lnSpc>
            </a:pPr>
            <a:r>
              <a:rPr lang="en-US" sz="19584" b="0" spc="-490" dirty="0">
                <a:solidFill>
                  <a:srgbClr val="141419"/>
                </a:solidFill>
                <a:latin typeface="Archivo Black"/>
                <a:cs typeface="Archivo Black"/>
              </a:rPr>
              <a:t>fast</a:t>
            </a:r>
            <a:r>
              <a:rPr lang="en-US" sz="19584" b="0" spc="-490" dirty="0">
                <a:solidFill>
                  <a:srgbClr val="2E6BFF"/>
                </a:solidFill>
                <a:latin typeface="Archivo Black"/>
                <a:cs typeface="Archivo Black"/>
              </a:rPr>
              <a:t>?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914400" y="9460409"/>
            <a:ext cx="8572500" cy="120759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3888" b="0" spc="-58" dirty="0">
                <a:solidFill>
                  <a:srgbClr val="141419"/>
                </a:solidFill>
                <a:latin typeface="Archivo Black"/>
                <a:cs typeface="Archivo Black"/>
              </a:rPr>
              <a:t>Your website feels fast to you.</a:t>
            </a:r>
          </a:p>
          <a:p>
            <a:pPr algn="l">
              <a:lnSpc>
                <a:spcPct val="110000"/>
              </a:lnSpc>
            </a:pPr>
            <a:r>
              <a:rPr lang="en-US" sz="3888" b="0" spc="-58" dirty="0">
                <a:solidFill>
                  <a:srgbClr val="141419"/>
                </a:solidFill>
                <a:latin typeface="Archivo Black"/>
                <a:cs typeface="Archivo Black"/>
              </a:rPr>
              <a:t>That's the problem.</a:t>
            </a:r>
          </a:p>
        </p:txBody>
      </p:sp>
      <p:sp>
        <p:nvSpPr>
          <p:cNvPr id="7" name="bar-track"/>
          <p:cNvSpPr/>
          <p:nvPr/>
        </p:nvSpPr>
        <p:spPr>
          <a:xfrm>
            <a:off x="914400" y="11010900"/>
            <a:ext cx="8458200" cy="57150"/>
          </a:xfrm>
          <a:prstGeom prst="roundRect">
            <a:avLst>
              <a:gd name="adj" fmla="val 50000"/>
            </a:avLst>
          </a:prstGeom>
          <a:solidFill>
            <a:srgbClr val="DFDFE4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bar-fill"/>
          <p:cNvSpPr/>
          <p:nvPr/>
        </p:nvSpPr>
        <p:spPr>
          <a:xfrm>
            <a:off x="914400" y="11010900"/>
            <a:ext cx="1057275" cy="57150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body"/>
          <p:cNvSpPr txBox="1"/>
          <p:nvPr/>
        </p:nvSpPr>
        <p:spPr>
          <a:xfrm>
            <a:off x="914400" y="11487150"/>
            <a:ext cx="7810500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304" b="0" spc="0" dirty="0">
                <a:solidFill>
                  <a:srgbClr val="55555C"/>
                </a:solidFill>
                <a:latin typeface="IBM Plex Sans"/>
                <a:cs typeface="IBM Plex Sans"/>
              </a:rPr>
              <a:t>Why owners are the last to know their site is slow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ordmark"/>
          <p:cNvSpPr txBox="1"/>
          <p:nvPr/>
        </p:nvSpPr>
        <p:spPr>
          <a:xfrm>
            <a:off x="914400" y="914400"/>
            <a:ext cx="1759595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84" b="1" spc="222" dirty="0">
                <a:solidFill>
                  <a:srgbClr val="141419"/>
                </a:solidFill>
                <a:latin typeface="IBM Plex Mono"/>
                <a:cs typeface="IBM Plex Mono"/>
              </a:rPr>
              <a:t>NIGHT ACE</a:t>
            </a:r>
          </a:p>
        </p:txBody>
      </p:sp>
      <p:sp>
        <p:nvSpPr>
          <p:cNvPr id="4" name="pageno"/>
          <p:cNvSpPr txBox="1"/>
          <p:nvPr/>
        </p:nvSpPr>
        <p:spPr>
          <a:xfrm>
            <a:off x="8300442" y="914400"/>
            <a:ext cx="1453158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584" b="1" spc="222" dirty="0">
                <a:solidFill>
                  <a:srgbClr val="55555C"/>
                </a:solidFill>
                <a:latin typeface="IBM Plex Mono"/>
                <a:cs typeface="IBM Plex Mono"/>
              </a:rPr>
              <a:t>02 — 08</a:t>
            </a:r>
          </a:p>
        </p:txBody>
      </p:sp>
      <p:sp>
        <p:nvSpPr>
          <p:cNvPr id="5" name="giant"/>
          <p:cNvSpPr txBox="1"/>
          <p:nvPr/>
        </p:nvSpPr>
        <p:spPr>
          <a:xfrm>
            <a:off x="914400" y="5901184"/>
            <a:ext cx="9029700" cy="197420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4000"/>
              </a:lnSpc>
            </a:pPr>
            <a:r>
              <a:rPr lang="en-US" sz="15264" b="0" spc="-382" dirty="0">
                <a:solidFill>
                  <a:srgbClr val="141419"/>
                </a:solidFill>
                <a:latin typeface="Archivo Black"/>
                <a:cs typeface="Archivo Black"/>
              </a:rPr>
              <a:t>cached</a:t>
            </a:r>
            <a:r>
              <a:rPr lang="en-US" sz="15264" b="0" spc="-382" dirty="0">
                <a:solidFill>
                  <a:srgbClr val="2E6BFF"/>
                </a:solidFill>
                <a:latin typeface="Archivo Black"/>
                <a:cs typeface="Archivo Black"/>
              </a:rPr>
              <a:t>.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914400" y="8294489"/>
            <a:ext cx="8572500" cy="145911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4752" b="0" spc="-71" dirty="0">
                <a:solidFill>
                  <a:srgbClr val="141419"/>
                </a:solidFill>
                <a:latin typeface="Archivo Black"/>
                <a:cs typeface="Archivo Black"/>
              </a:rPr>
              <a:t>You've seen it before. They haven't.</a:t>
            </a:r>
          </a:p>
        </p:txBody>
      </p:sp>
      <p:sp>
        <p:nvSpPr>
          <p:cNvPr id="7" name="bar-track"/>
          <p:cNvSpPr/>
          <p:nvPr/>
        </p:nvSpPr>
        <p:spPr>
          <a:xfrm>
            <a:off x="914400" y="10096500"/>
            <a:ext cx="8458200" cy="57150"/>
          </a:xfrm>
          <a:prstGeom prst="roundRect">
            <a:avLst>
              <a:gd name="adj" fmla="val 50000"/>
            </a:avLst>
          </a:prstGeom>
          <a:solidFill>
            <a:srgbClr val="DFDFE4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bar-fill"/>
          <p:cNvSpPr/>
          <p:nvPr/>
        </p:nvSpPr>
        <p:spPr>
          <a:xfrm>
            <a:off x="914400" y="10096500"/>
            <a:ext cx="2114550" cy="57150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body"/>
          <p:cNvSpPr txBox="1"/>
          <p:nvPr/>
        </p:nvSpPr>
        <p:spPr>
          <a:xfrm>
            <a:off x="914400" y="10572750"/>
            <a:ext cx="7810500" cy="144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304" b="0" spc="0" dirty="0">
                <a:solidFill>
                  <a:srgbClr val="55555C"/>
                </a:solidFill>
                <a:latin typeface="IBM Plex Sans"/>
                <a:cs typeface="IBM Plex Sans"/>
              </a:rPr>
              <a:t>Your browser keeps saved copies of your site, so it loads instantly for you. First-time visitors download everything cold — usually on a phone, on mobile data.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ordmark"/>
          <p:cNvSpPr txBox="1"/>
          <p:nvPr/>
        </p:nvSpPr>
        <p:spPr>
          <a:xfrm>
            <a:off x="914400" y="914400"/>
            <a:ext cx="1759595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84" b="1" spc="222" dirty="0">
                <a:solidFill>
                  <a:srgbClr val="141419"/>
                </a:solidFill>
                <a:latin typeface="IBM Plex Mono"/>
                <a:cs typeface="IBM Plex Mono"/>
              </a:rPr>
              <a:t>NIGHT ACE</a:t>
            </a:r>
          </a:p>
        </p:txBody>
      </p:sp>
      <p:sp>
        <p:nvSpPr>
          <p:cNvPr id="4" name="pageno"/>
          <p:cNvSpPr txBox="1"/>
          <p:nvPr/>
        </p:nvSpPr>
        <p:spPr>
          <a:xfrm>
            <a:off x="8300442" y="914400"/>
            <a:ext cx="1453158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584" b="1" spc="222" dirty="0">
                <a:solidFill>
                  <a:srgbClr val="55555C"/>
                </a:solidFill>
                <a:latin typeface="IBM Plex Mono"/>
                <a:cs typeface="IBM Plex Mono"/>
              </a:rPr>
              <a:t>03 — 08</a:t>
            </a:r>
          </a:p>
        </p:txBody>
      </p:sp>
      <p:sp>
        <p:nvSpPr>
          <p:cNvPr id="5" name="giant"/>
          <p:cNvSpPr txBox="1"/>
          <p:nvPr/>
        </p:nvSpPr>
        <p:spPr>
          <a:xfrm>
            <a:off x="914400" y="4452045"/>
            <a:ext cx="9029700" cy="3657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4000"/>
              </a:lnSpc>
            </a:pPr>
            <a:r>
              <a:rPr lang="en-US" sz="28800" b="0" spc="-720" dirty="0">
                <a:solidFill>
                  <a:srgbClr val="141419"/>
                </a:solidFill>
                <a:latin typeface="Archivo Black"/>
                <a:cs typeface="Archivo Black"/>
              </a:rPr>
              <a:t>1</a:t>
            </a:r>
            <a:r>
              <a:rPr lang="en-US" sz="28800" b="0" spc="-720" dirty="0">
                <a:solidFill>
                  <a:srgbClr val="2E6BFF"/>
                </a:solidFill>
                <a:latin typeface="Archivo Black"/>
                <a:cs typeface="Archivo Black"/>
              </a:rPr>
              <a:t>.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914400" y="8528745"/>
            <a:ext cx="8572500" cy="7676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4752" b="0" spc="-71" dirty="0">
                <a:solidFill>
                  <a:srgbClr val="141419"/>
                </a:solidFill>
                <a:latin typeface="Archivo Black"/>
                <a:cs typeface="Archivo Black"/>
              </a:rPr>
              <a:t>Heavyweight images</a:t>
            </a:r>
          </a:p>
        </p:txBody>
      </p:sp>
      <p:sp>
        <p:nvSpPr>
          <p:cNvPr id="7" name="bar-track"/>
          <p:cNvSpPr/>
          <p:nvPr/>
        </p:nvSpPr>
        <p:spPr>
          <a:xfrm>
            <a:off x="914400" y="9639300"/>
            <a:ext cx="8458200" cy="57150"/>
          </a:xfrm>
          <a:prstGeom prst="roundRect">
            <a:avLst>
              <a:gd name="adj" fmla="val 50000"/>
            </a:avLst>
          </a:prstGeom>
          <a:solidFill>
            <a:srgbClr val="DFDFE4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bar-fill"/>
          <p:cNvSpPr/>
          <p:nvPr/>
        </p:nvSpPr>
        <p:spPr>
          <a:xfrm>
            <a:off x="914400" y="9639300"/>
            <a:ext cx="3171825" cy="57150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body"/>
          <p:cNvSpPr txBox="1"/>
          <p:nvPr/>
        </p:nvSpPr>
        <p:spPr>
          <a:xfrm>
            <a:off x="914400" y="10115550"/>
            <a:ext cx="7810500" cy="190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304" b="0" spc="0" dirty="0">
                <a:solidFill>
                  <a:srgbClr val="55555C"/>
                </a:solidFill>
                <a:latin typeface="IBM Plex Sans"/>
                <a:cs typeface="IBM Plex Sans"/>
              </a:rPr>
              <a:t>A photo uploaded straight from a camera can weigh more than the rest of the page combined. Compressing it costs nothing, and nobody sees the difference.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ordmark"/>
          <p:cNvSpPr txBox="1"/>
          <p:nvPr/>
        </p:nvSpPr>
        <p:spPr>
          <a:xfrm>
            <a:off x="914400" y="914400"/>
            <a:ext cx="1759595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84" b="1" spc="222" dirty="0">
                <a:solidFill>
                  <a:srgbClr val="141419"/>
                </a:solidFill>
                <a:latin typeface="IBM Plex Mono"/>
                <a:cs typeface="IBM Plex Mono"/>
              </a:rPr>
              <a:t>NIGHT ACE</a:t>
            </a:r>
          </a:p>
        </p:txBody>
      </p:sp>
      <p:sp>
        <p:nvSpPr>
          <p:cNvPr id="4" name="pageno"/>
          <p:cNvSpPr txBox="1"/>
          <p:nvPr/>
        </p:nvSpPr>
        <p:spPr>
          <a:xfrm>
            <a:off x="8300442" y="914400"/>
            <a:ext cx="1453158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584" b="1" spc="222" dirty="0">
                <a:solidFill>
                  <a:srgbClr val="55555C"/>
                </a:solidFill>
                <a:latin typeface="IBM Plex Mono"/>
                <a:cs typeface="IBM Plex Mono"/>
              </a:rPr>
              <a:t>04 — 08</a:t>
            </a:r>
          </a:p>
        </p:txBody>
      </p:sp>
      <p:sp>
        <p:nvSpPr>
          <p:cNvPr id="5" name="giant"/>
          <p:cNvSpPr txBox="1"/>
          <p:nvPr/>
        </p:nvSpPr>
        <p:spPr>
          <a:xfrm>
            <a:off x="914400" y="4909245"/>
            <a:ext cx="9029700" cy="3657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4000"/>
              </a:lnSpc>
            </a:pPr>
            <a:r>
              <a:rPr lang="en-US" sz="28800" b="0" spc="-720" dirty="0">
                <a:solidFill>
                  <a:srgbClr val="141419"/>
                </a:solidFill>
                <a:latin typeface="Archivo Black"/>
                <a:cs typeface="Archivo Black"/>
              </a:rPr>
              <a:t>2</a:t>
            </a:r>
            <a:r>
              <a:rPr lang="en-US" sz="28800" b="0" spc="-720" dirty="0">
                <a:solidFill>
                  <a:srgbClr val="2E6BFF"/>
                </a:solidFill>
                <a:latin typeface="Archivo Black"/>
                <a:cs typeface="Archivo Black"/>
              </a:rPr>
              <a:t>.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914400" y="8985945"/>
            <a:ext cx="8572500" cy="7676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4752" b="0" spc="-71" dirty="0">
                <a:solidFill>
                  <a:srgbClr val="141419"/>
                </a:solidFill>
                <a:latin typeface="Archivo Black"/>
                <a:cs typeface="Archivo Black"/>
              </a:rPr>
              <a:t>Add-on overload</a:t>
            </a:r>
          </a:p>
        </p:txBody>
      </p:sp>
      <p:sp>
        <p:nvSpPr>
          <p:cNvPr id="7" name="bar-track"/>
          <p:cNvSpPr/>
          <p:nvPr/>
        </p:nvSpPr>
        <p:spPr>
          <a:xfrm>
            <a:off x="914400" y="10096500"/>
            <a:ext cx="8458200" cy="57150"/>
          </a:xfrm>
          <a:prstGeom prst="roundRect">
            <a:avLst>
              <a:gd name="adj" fmla="val 50000"/>
            </a:avLst>
          </a:prstGeom>
          <a:solidFill>
            <a:srgbClr val="DFDFE4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bar-fill"/>
          <p:cNvSpPr/>
          <p:nvPr/>
        </p:nvSpPr>
        <p:spPr>
          <a:xfrm>
            <a:off x="914400" y="10096500"/>
            <a:ext cx="4229100" cy="57150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body"/>
          <p:cNvSpPr txBox="1"/>
          <p:nvPr/>
        </p:nvSpPr>
        <p:spPr>
          <a:xfrm>
            <a:off x="914400" y="10572750"/>
            <a:ext cx="7810500" cy="144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304" b="0" spc="0" dirty="0">
                <a:solidFill>
                  <a:srgbClr val="55555C"/>
                </a:solidFill>
                <a:latin typeface="IBM Plex Sans"/>
                <a:cs typeface="IBM Plex Sans"/>
              </a:rPr>
              <a:t>Chat widgets, trackers, sliders, pop-ups — every extra ships code your visitor has to download before the page settles down.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ordmark"/>
          <p:cNvSpPr txBox="1"/>
          <p:nvPr/>
        </p:nvSpPr>
        <p:spPr>
          <a:xfrm>
            <a:off x="914400" y="914400"/>
            <a:ext cx="1759595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84" b="1" spc="222" dirty="0">
                <a:solidFill>
                  <a:srgbClr val="141419"/>
                </a:solidFill>
                <a:latin typeface="IBM Plex Mono"/>
                <a:cs typeface="IBM Plex Mono"/>
              </a:rPr>
              <a:t>NIGHT ACE</a:t>
            </a:r>
          </a:p>
        </p:txBody>
      </p:sp>
      <p:sp>
        <p:nvSpPr>
          <p:cNvPr id="4" name="pageno"/>
          <p:cNvSpPr txBox="1"/>
          <p:nvPr/>
        </p:nvSpPr>
        <p:spPr>
          <a:xfrm>
            <a:off x="8300442" y="914400"/>
            <a:ext cx="1453158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584" b="1" spc="222" dirty="0">
                <a:solidFill>
                  <a:srgbClr val="55555C"/>
                </a:solidFill>
                <a:latin typeface="IBM Plex Mono"/>
                <a:cs typeface="IBM Plex Mono"/>
              </a:rPr>
              <a:t>05 — 08</a:t>
            </a:r>
          </a:p>
        </p:txBody>
      </p:sp>
      <p:sp>
        <p:nvSpPr>
          <p:cNvPr id="5" name="giant"/>
          <p:cNvSpPr txBox="1"/>
          <p:nvPr/>
        </p:nvSpPr>
        <p:spPr>
          <a:xfrm>
            <a:off x="914400" y="4909245"/>
            <a:ext cx="9029700" cy="3657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4000"/>
              </a:lnSpc>
            </a:pPr>
            <a:r>
              <a:rPr lang="en-US" sz="28800" b="0" spc="-720" dirty="0">
                <a:solidFill>
                  <a:srgbClr val="141419"/>
                </a:solidFill>
                <a:latin typeface="Archivo Black"/>
                <a:cs typeface="Archivo Black"/>
              </a:rPr>
              <a:t>3</a:t>
            </a:r>
            <a:r>
              <a:rPr lang="en-US" sz="28800" b="0" spc="-720" dirty="0">
                <a:solidFill>
                  <a:srgbClr val="2E6BFF"/>
                </a:solidFill>
                <a:latin typeface="Archivo Black"/>
                <a:cs typeface="Archivo Black"/>
              </a:rPr>
              <a:t>.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914400" y="8985945"/>
            <a:ext cx="8572500" cy="7676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4752" b="0" spc="-71" dirty="0">
                <a:solidFill>
                  <a:srgbClr val="141419"/>
                </a:solidFill>
                <a:latin typeface="Archivo Black"/>
                <a:cs typeface="Archivo Black"/>
              </a:rPr>
              <a:t>No caching, no CDN</a:t>
            </a:r>
          </a:p>
        </p:txBody>
      </p:sp>
      <p:sp>
        <p:nvSpPr>
          <p:cNvPr id="7" name="bar-track"/>
          <p:cNvSpPr/>
          <p:nvPr/>
        </p:nvSpPr>
        <p:spPr>
          <a:xfrm>
            <a:off x="914400" y="10096500"/>
            <a:ext cx="8458200" cy="57150"/>
          </a:xfrm>
          <a:prstGeom prst="roundRect">
            <a:avLst>
              <a:gd name="adj" fmla="val 50000"/>
            </a:avLst>
          </a:prstGeom>
          <a:solidFill>
            <a:srgbClr val="DFDFE4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bar-fill"/>
          <p:cNvSpPr/>
          <p:nvPr/>
        </p:nvSpPr>
        <p:spPr>
          <a:xfrm>
            <a:off x="914400" y="10096500"/>
            <a:ext cx="5286375" cy="57150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body"/>
          <p:cNvSpPr txBox="1"/>
          <p:nvPr/>
        </p:nvSpPr>
        <p:spPr>
          <a:xfrm>
            <a:off x="914400" y="10572750"/>
            <a:ext cx="7810500" cy="144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304" b="0" spc="0" dirty="0">
                <a:solidFill>
                  <a:srgbClr val="55555C"/>
                </a:solidFill>
                <a:latin typeface="IBM Plex Sans"/>
                <a:cs typeface="IBM Plex Sans"/>
              </a:rPr>
              <a:t>Without caching, your server rebuilds the page for every single visitor. A CDN serves a ready copy from somewhere near them instead.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ordmark"/>
          <p:cNvSpPr txBox="1"/>
          <p:nvPr/>
        </p:nvSpPr>
        <p:spPr>
          <a:xfrm>
            <a:off x="914400" y="914400"/>
            <a:ext cx="1759595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84" b="1" spc="222" dirty="0">
                <a:solidFill>
                  <a:srgbClr val="141419"/>
                </a:solidFill>
                <a:latin typeface="IBM Plex Mono"/>
                <a:cs typeface="IBM Plex Mono"/>
              </a:rPr>
              <a:t>NIGHT ACE</a:t>
            </a:r>
          </a:p>
        </p:txBody>
      </p:sp>
      <p:sp>
        <p:nvSpPr>
          <p:cNvPr id="4" name="pageno"/>
          <p:cNvSpPr txBox="1"/>
          <p:nvPr/>
        </p:nvSpPr>
        <p:spPr>
          <a:xfrm>
            <a:off x="8300442" y="914400"/>
            <a:ext cx="1453158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584" b="1" spc="222" dirty="0">
                <a:solidFill>
                  <a:srgbClr val="55555C"/>
                </a:solidFill>
                <a:latin typeface="IBM Plex Mono"/>
                <a:cs typeface="IBM Plex Mono"/>
              </a:rPr>
              <a:t>06 — 08</a:t>
            </a:r>
          </a:p>
        </p:txBody>
      </p:sp>
      <p:sp>
        <p:nvSpPr>
          <p:cNvPr id="5" name="giant"/>
          <p:cNvSpPr txBox="1"/>
          <p:nvPr/>
        </p:nvSpPr>
        <p:spPr>
          <a:xfrm>
            <a:off x="914400" y="5902523"/>
            <a:ext cx="9029700" cy="220712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4000"/>
              </a:lnSpc>
            </a:pPr>
            <a:r>
              <a:rPr lang="en-US" sz="17136" b="0" spc="-428" dirty="0">
                <a:solidFill>
                  <a:srgbClr val="141419"/>
                </a:solidFill>
                <a:latin typeface="Archivo Black"/>
                <a:cs typeface="Archivo Black"/>
              </a:rPr>
              <a:t>trust</a:t>
            </a:r>
            <a:r>
              <a:rPr lang="en-US" sz="17136" b="0" spc="-428" dirty="0">
                <a:solidFill>
                  <a:srgbClr val="2E6BFF"/>
                </a:solidFill>
                <a:latin typeface="Archivo Black"/>
                <a:cs typeface="Archivo Black"/>
              </a:rPr>
              <a:t>.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914400" y="8528745"/>
            <a:ext cx="8572500" cy="7676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4752" b="0" spc="-71" dirty="0">
                <a:solidFill>
                  <a:srgbClr val="141419"/>
                </a:solidFill>
                <a:latin typeface="Archivo Black"/>
                <a:cs typeface="Archivo Black"/>
              </a:rPr>
              <a:t>Why it's worth fixing</a:t>
            </a:r>
          </a:p>
        </p:txBody>
      </p:sp>
      <p:sp>
        <p:nvSpPr>
          <p:cNvPr id="7" name="bar-track"/>
          <p:cNvSpPr/>
          <p:nvPr/>
        </p:nvSpPr>
        <p:spPr>
          <a:xfrm>
            <a:off x="914400" y="9639300"/>
            <a:ext cx="8458200" cy="57150"/>
          </a:xfrm>
          <a:prstGeom prst="roundRect">
            <a:avLst>
              <a:gd name="adj" fmla="val 50000"/>
            </a:avLst>
          </a:prstGeom>
          <a:solidFill>
            <a:srgbClr val="DFDFE4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bar-fill"/>
          <p:cNvSpPr/>
          <p:nvPr/>
        </p:nvSpPr>
        <p:spPr>
          <a:xfrm>
            <a:off x="914400" y="9639300"/>
            <a:ext cx="6343650" cy="57150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body"/>
          <p:cNvSpPr txBox="1"/>
          <p:nvPr/>
        </p:nvSpPr>
        <p:spPr>
          <a:xfrm>
            <a:off x="914400" y="10115550"/>
            <a:ext cx="7810500" cy="1905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304" b="0" spc="0" dirty="0">
                <a:solidFill>
                  <a:srgbClr val="55555C"/>
                </a:solidFill>
                <a:latin typeface="IBM Plex Sans"/>
                <a:cs typeface="IBM Plex Sans"/>
              </a:rPr>
              <a:t>People decide whether a site feels trustworthy within the first seconds, and Google uses page speed as a ranking signal. A slow site loses visitors it never even meets.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ordmark"/>
          <p:cNvSpPr txBox="1"/>
          <p:nvPr/>
        </p:nvSpPr>
        <p:spPr>
          <a:xfrm>
            <a:off x="914400" y="914400"/>
            <a:ext cx="1759595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84" b="1" spc="222" dirty="0">
                <a:solidFill>
                  <a:srgbClr val="141419"/>
                </a:solidFill>
                <a:latin typeface="IBM Plex Mono"/>
                <a:cs typeface="IBM Plex Mono"/>
              </a:rPr>
              <a:t>NIGHT ACE</a:t>
            </a:r>
          </a:p>
        </p:txBody>
      </p:sp>
      <p:sp>
        <p:nvSpPr>
          <p:cNvPr id="4" name="pageno"/>
          <p:cNvSpPr txBox="1"/>
          <p:nvPr/>
        </p:nvSpPr>
        <p:spPr>
          <a:xfrm>
            <a:off x="8300442" y="914400"/>
            <a:ext cx="1453158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584" b="1" spc="222" dirty="0">
                <a:solidFill>
                  <a:srgbClr val="55555C"/>
                </a:solidFill>
                <a:latin typeface="IBM Plex Mono"/>
                <a:cs typeface="IBM Plex Mono"/>
              </a:rPr>
              <a:t>07 — 08</a:t>
            </a:r>
          </a:p>
        </p:txBody>
      </p:sp>
      <p:sp>
        <p:nvSpPr>
          <p:cNvPr id="5" name="giant"/>
          <p:cNvSpPr txBox="1"/>
          <p:nvPr/>
        </p:nvSpPr>
        <p:spPr>
          <a:xfrm>
            <a:off x="914400" y="7165628"/>
            <a:ext cx="9029700" cy="140121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4000"/>
              </a:lnSpc>
            </a:pPr>
            <a:r>
              <a:rPr lang="en-US" sz="10656" b="0" spc="-266" dirty="0">
                <a:solidFill>
                  <a:srgbClr val="141419"/>
                </a:solidFill>
                <a:latin typeface="Archivo Black"/>
                <a:cs typeface="Archivo Black"/>
              </a:rPr>
              <a:t>incognito</a:t>
            </a:r>
            <a:r>
              <a:rPr lang="en-US" sz="10656" b="0" spc="-266" dirty="0">
                <a:solidFill>
                  <a:srgbClr val="2E6BFF"/>
                </a:solidFill>
                <a:latin typeface="Archivo Black"/>
                <a:cs typeface="Archivo Black"/>
              </a:rPr>
              <a:t>.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914400" y="8985945"/>
            <a:ext cx="8572500" cy="7676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4752" b="0" spc="-71" dirty="0">
                <a:solidFill>
                  <a:srgbClr val="141419"/>
                </a:solidFill>
                <a:latin typeface="Archivo Black"/>
                <a:cs typeface="Archivo Black"/>
              </a:rPr>
              <a:t>Test it like a stranger</a:t>
            </a:r>
          </a:p>
        </p:txBody>
      </p:sp>
      <p:sp>
        <p:nvSpPr>
          <p:cNvPr id="7" name="bar-track"/>
          <p:cNvSpPr/>
          <p:nvPr/>
        </p:nvSpPr>
        <p:spPr>
          <a:xfrm>
            <a:off x="914400" y="10096500"/>
            <a:ext cx="8458200" cy="57150"/>
          </a:xfrm>
          <a:prstGeom prst="roundRect">
            <a:avLst>
              <a:gd name="adj" fmla="val 50000"/>
            </a:avLst>
          </a:prstGeom>
          <a:solidFill>
            <a:srgbClr val="DFDFE4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bar-fill"/>
          <p:cNvSpPr/>
          <p:nvPr/>
        </p:nvSpPr>
        <p:spPr>
          <a:xfrm>
            <a:off x="914400" y="10096500"/>
            <a:ext cx="7400925" cy="57150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body"/>
          <p:cNvSpPr txBox="1"/>
          <p:nvPr/>
        </p:nvSpPr>
        <p:spPr>
          <a:xfrm>
            <a:off x="914400" y="10572750"/>
            <a:ext cx="7810500" cy="144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304" b="0" spc="0" dirty="0">
                <a:solidFill>
                  <a:srgbClr val="55555C"/>
                </a:solidFill>
                <a:latin typeface="IBM Plex Sans"/>
                <a:cs typeface="IBM Plex Sans"/>
              </a:rPr>
              <a:t>Open your site in a private window, on your phone, on mobile data — or run it through PageSpeed Insights, free. That's the version first-time visitors actually get.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ordmark"/>
          <p:cNvSpPr txBox="1"/>
          <p:nvPr/>
        </p:nvSpPr>
        <p:spPr>
          <a:xfrm>
            <a:off x="914400" y="914400"/>
            <a:ext cx="1759595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84" b="1" spc="222" dirty="0">
                <a:solidFill>
                  <a:srgbClr val="141419"/>
                </a:solidFill>
                <a:latin typeface="IBM Plex Mono"/>
                <a:cs typeface="IBM Plex Mono"/>
              </a:rPr>
              <a:t>NIGHT ACE</a:t>
            </a:r>
          </a:p>
        </p:txBody>
      </p:sp>
      <p:sp>
        <p:nvSpPr>
          <p:cNvPr id="4" name="pageno"/>
          <p:cNvSpPr txBox="1"/>
          <p:nvPr/>
        </p:nvSpPr>
        <p:spPr>
          <a:xfrm>
            <a:off x="8300442" y="914400"/>
            <a:ext cx="1453158" cy="3524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584" b="1" spc="222" dirty="0">
                <a:solidFill>
                  <a:srgbClr val="55555C"/>
                </a:solidFill>
                <a:latin typeface="IBM Plex Mono"/>
                <a:cs typeface="IBM Plex Mono"/>
              </a:rPr>
              <a:t>08 — 08</a:t>
            </a:r>
          </a:p>
        </p:txBody>
      </p:sp>
      <p:sp>
        <p:nvSpPr>
          <p:cNvPr id="5" name="giant"/>
          <p:cNvSpPr txBox="1"/>
          <p:nvPr/>
        </p:nvSpPr>
        <p:spPr>
          <a:xfrm>
            <a:off x="914400" y="5141565"/>
            <a:ext cx="9029700" cy="2207121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4000"/>
              </a:lnSpc>
            </a:pPr>
            <a:r>
              <a:rPr lang="en-US" sz="17136" b="0" spc="-428" dirty="0">
                <a:solidFill>
                  <a:srgbClr val="141419"/>
                </a:solidFill>
                <a:latin typeface="Archivo Black"/>
                <a:cs typeface="Archivo Black"/>
              </a:rPr>
              <a:t>speed</a:t>
            </a:r>
            <a:r>
              <a:rPr lang="en-US" sz="17136" b="0" spc="-428" dirty="0">
                <a:solidFill>
                  <a:srgbClr val="2E6BFF"/>
                </a:solidFill>
                <a:latin typeface="Archivo Black"/>
                <a:cs typeface="Archivo Black"/>
              </a:rPr>
              <a:t>.</a:t>
            </a:r>
          </a:p>
        </p:txBody>
      </p:sp>
      <p:sp>
        <p:nvSpPr>
          <p:cNvPr id="6" name="title"/>
          <p:cNvSpPr txBox="1"/>
          <p:nvPr/>
        </p:nvSpPr>
        <p:spPr>
          <a:xfrm>
            <a:off x="914400" y="7767786"/>
            <a:ext cx="8572500" cy="76765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US" sz="4752" b="0" spc="-71" dirty="0">
                <a:solidFill>
                  <a:srgbClr val="141419"/>
                </a:solidFill>
                <a:latin typeface="Archivo Black"/>
                <a:cs typeface="Archivo Black"/>
              </a:rPr>
              <a:t>Speed is part of the design</a:t>
            </a:r>
          </a:p>
        </p:txBody>
      </p:sp>
      <p:sp>
        <p:nvSpPr>
          <p:cNvPr id="7" name="bar-track"/>
          <p:cNvSpPr/>
          <p:nvPr/>
        </p:nvSpPr>
        <p:spPr>
          <a:xfrm>
            <a:off x="914400" y="8878342"/>
            <a:ext cx="8458200" cy="57150"/>
          </a:xfrm>
          <a:prstGeom prst="roundRect">
            <a:avLst>
              <a:gd name="adj" fmla="val 50000"/>
            </a:avLst>
          </a:prstGeom>
          <a:solidFill>
            <a:srgbClr val="DFDFE4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bar-fill"/>
          <p:cNvSpPr/>
          <p:nvPr/>
        </p:nvSpPr>
        <p:spPr>
          <a:xfrm>
            <a:off x="914400" y="8878342"/>
            <a:ext cx="8458200" cy="57150"/>
          </a:xfrm>
          <a:prstGeom prst="roundRect">
            <a:avLst>
              <a:gd name="adj" fmla="val 50000"/>
            </a:avLst>
          </a:prstGeom>
          <a:solidFill>
            <a:srgbClr val="2E6B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body"/>
          <p:cNvSpPr txBox="1"/>
          <p:nvPr/>
        </p:nvSpPr>
        <p:spPr>
          <a:xfrm>
            <a:off x="914400" y="9354592"/>
            <a:ext cx="7810500" cy="990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304" b="0" spc="0" dirty="0">
                <a:solidFill>
                  <a:srgbClr val="55555C"/>
                </a:solidFill>
                <a:latin typeface="IBM Plex Sans"/>
                <a:cs typeface="IBM Plex Sans"/>
              </a:rPr>
              <a:t>It shapes the first impression before a single word gets read.</a:t>
            </a:r>
          </a:p>
        </p:txBody>
      </p:sp>
      <p:sp>
        <p:nvSpPr>
          <p:cNvPr id="10" name="cta"/>
          <p:cNvSpPr txBox="1"/>
          <p:nvPr/>
        </p:nvSpPr>
        <p:spPr>
          <a:xfrm>
            <a:off x="914400" y="10535692"/>
            <a:ext cx="7810500" cy="148485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lang="en-US" sz="2448" b="1" spc="0" dirty="0">
                <a:solidFill>
                  <a:srgbClr val="141419"/>
                </a:solidFill>
                <a:latin typeface="IBM Plex Sans"/>
                <a:cs typeface="IBM Plex Sans"/>
              </a:rPr>
              <a:t>Not sure what's slowing your site down? Send </a:t>
            </a:r>
            <a:r>
              <a:rPr lang="en-US" sz="2448" b="1" spc="0" dirty="0">
                <a:solidFill>
                  <a:srgbClr val="2E6BFF"/>
                </a:solidFill>
                <a:latin typeface="IBM Plex Sans"/>
                <a:cs typeface="IBM Plex Sans"/>
              </a:rPr>
              <a:t>Night Ace</a:t>
            </a:r>
            <a:r>
              <a:rPr lang="en-US" sz="2448" b="1" spc="0" dirty="0">
                <a:solidFill>
                  <a:srgbClr val="141419"/>
                </a:solidFill>
                <a:latin typeface="IBM Plex Sans"/>
                <a:cs typeface="IBM Plex Sans"/>
              </a:rPr>
              <a:t> the link — we'll answer in plain language.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NightAce">
  <a:themeElements>
    <a:clrScheme name="NightAce">
      <a:dk1>
        <a:srgbClr val="141419"/>
      </a:dk1>
      <a:lt1>
        <a:srgbClr val="F5F5F5"/>
      </a:lt1>
      <a:dk2>
        <a:srgbClr val="55555C"/>
      </a:dk2>
      <a:lt2>
        <a:srgbClr val="DFDFE4"/>
      </a:lt2>
      <a:accent1>
        <a:srgbClr val="2E6BFF"/>
      </a:accent1>
      <a:accent2>
        <a:srgbClr val="2E6BFF"/>
      </a:accent2>
      <a:accent3>
        <a:srgbClr val="2E6BFF"/>
      </a:accent3>
      <a:accent4>
        <a:srgbClr val="2E6BFF"/>
      </a:accent4>
      <a:accent5>
        <a:srgbClr val="2E6BFF"/>
      </a:accent5>
      <a:accent6>
        <a:srgbClr val="2E6BFF"/>
      </a:accent6>
      <a:hlink>
        <a:srgbClr val="2E6BFF"/>
      </a:hlink>
      <a:folHlink>
        <a:srgbClr val="7C5CFF"/>
      </a:folHlink>
    </a:clrScheme>
    <a:fontScheme name="NightAce">
      <a:majorFont>
        <a:latin typeface="Archivo Black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