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0287000" cy="12858750"/>
  <p:notesSz cx="10287000" cy="1285875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3"/>
          <p:cNvSpPr/>
          <p:nvPr/>
        </p:nvSpPr>
        <p:spPr>
          <a:xfrm>
            <a:off x="914400" y="8124527"/>
            <a:ext cx="8458200" cy="57150"/>
          </a:xfrm>
          <a:prstGeom prst="roundRect">
            <a:avLst>
              <a:gd name="adj" fmla="val 50000"/>
            </a:avLst>
          </a:prstGeom>
          <a:solidFill>
            <a:srgbClr val="55555C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4"/>
          <p:cNvSpPr/>
          <p:nvPr/>
        </p:nvSpPr>
        <p:spPr>
          <a:xfrm>
            <a:off x="914400" y="8124527"/>
            <a:ext cx="1057275" cy="57150"/>
          </a:xfrm>
          <a:prstGeom prst="roundRect">
            <a:avLst>
              <a:gd name="adj" fmla="val 50000"/>
            </a:avLst>
          </a:prstGeom>
          <a:solidFill>
            <a:srgbClr val="2E6BFF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ext5"/>
          <p:cNvSpPr txBox="1"/>
          <p:nvPr/>
        </p:nvSpPr>
        <p:spPr>
          <a:xfrm>
            <a:off x="914400" y="914400"/>
            <a:ext cx="8915400" cy="3524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1152" b="0" spc="0" dirty="0">
                <a:solidFill>
                  <a:srgbClr val="F5F5F5"/>
                </a:solidFill>
                <a:latin typeface="IBM Plex Sans"/>
                <a:cs typeface="IBM Plex Sans"/>
              </a:rPr>
              <a:t>
    </a:t>
            </a:r>
            <a:r>
              <a:rPr lang="en-US" sz="1152" b="0" spc="0" dirty="0">
                <a:solidFill>
                  <a:srgbClr val="F5F5F5"/>
                </a:solidFill>
                <a:latin typeface="IBM Plex Sans"/>
                <a:cs typeface="IBM Plex Sans"/>
              </a:rPr>
              <a:t>NIGHT ACE</a:t>
            </a:r>
            <a:r>
              <a:rPr lang="en-US" sz="1152" b="0" spc="0" dirty="0">
                <a:solidFill>
                  <a:srgbClr val="F5F5F5"/>
                </a:solidFill>
                <a:latin typeface="IBM Plex Sans"/>
                <a:cs typeface="IBM Plex Sans"/>
              </a:rPr>
              <a:t>
    </a:t>
            </a:r>
            <a:r>
              <a:rPr lang="en-US" sz="1152" b="0" spc="0" dirty="0">
                <a:solidFill>
                  <a:srgbClr val="DFDFE4"/>
                </a:solidFill>
                <a:latin typeface="IBM Plex Sans"/>
                <a:cs typeface="IBM Plex Sans"/>
              </a:rPr>
              <a:t>01 — 08</a:t>
            </a:r>
            <a:r>
              <a:rPr lang="en-US" sz="1152" b="0" spc="0" dirty="0">
                <a:solidFill>
                  <a:srgbClr val="F5F5F5"/>
                </a:solidFill>
                <a:latin typeface="IBM Plex Sans"/>
                <a:cs typeface="IBM Plex Sans"/>
              </a:rPr>
              <a:t>
  </a:t>
            </a:r>
          </a:p>
        </p:txBody>
      </p:sp>
      <p:sp>
        <p:nvSpPr>
          <p:cNvPr id="6" name="text6"/>
          <p:cNvSpPr txBox="1"/>
          <p:nvPr/>
        </p:nvSpPr>
        <p:spPr>
          <a:xfrm>
            <a:off x="914400" y="3505498"/>
            <a:ext cx="8915400" cy="427613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lang="en-US" sz="7632" b="1" spc="-153" dirty="0">
                <a:solidFill>
                  <a:srgbClr val="F5F5F5"/>
                </a:solidFill>
                <a:latin typeface="Archivo"/>
                <a:cs typeface="Archivo"/>
              </a:rPr>
              <a:t>Your business</a:t>
            </a:r>
          </a:p>
          <a:p>
            <a:pPr algn="l">
              <a:lnSpc>
                <a:spcPct val="104000"/>
              </a:lnSpc>
            </a:pPr>
            <a:r>
              <a:rPr lang="en-US" sz="7632" b="1" spc="-153" dirty="0">
                <a:solidFill>
                  <a:srgbClr val="F5F5F5"/>
                </a:solidFill>
                <a:latin typeface="Archivo"/>
                <a:cs typeface="Archivo"/>
              </a:rPr>
              <a:t>doesn't need AI.</a:t>
            </a:r>
          </a:p>
          <a:p>
            <a:pPr algn="l">
              <a:lnSpc>
                <a:spcPct val="104000"/>
              </a:lnSpc>
            </a:pPr>
            <a:r>
              <a:rPr lang="en-US" sz="7632" b="1" spc="-153" dirty="0">
                <a:solidFill>
                  <a:srgbClr val="F5F5F5"/>
                </a:solidFill>
                <a:latin typeface="Archivo"/>
                <a:cs typeface="Archivo"/>
              </a:rPr>
              <a:t>It needs fewer</a:t>
            </a:r>
          </a:p>
          <a:p>
            <a:pPr algn="l">
              <a:lnSpc>
                <a:spcPct val="104000"/>
              </a:lnSpc>
            </a:pPr>
            <a:r>
              <a:rPr lang="en-US" sz="7632" b="1" spc="-153" dirty="0">
                <a:solidFill>
                  <a:srgbClr val="F5F5F5"/>
                </a:solidFill>
                <a:latin typeface="Archivo"/>
                <a:cs typeface="Archivo"/>
              </a:rPr>
              <a:t>repeated tasks</a:t>
            </a:r>
            <a:r>
              <a:rPr lang="en-US" sz="7632" b="1" spc="-153" dirty="0">
                <a:solidFill>
                  <a:srgbClr val="2E6BFF"/>
                </a:solidFill>
                <a:latin typeface="Archivo"/>
                <a:cs typeface="Archivo"/>
              </a:rPr>
              <a:t>.</a:t>
            </a:r>
          </a:p>
        </p:txBody>
      </p:sp>
      <p:sp>
        <p:nvSpPr>
          <p:cNvPr id="7" name="text7"/>
          <p:cNvSpPr txBox="1"/>
          <p:nvPr/>
        </p:nvSpPr>
        <p:spPr>
          <a:xfrm>
            <a:off x="914400" y="8562677"/>
            <a:ext cx="7886700" cy="533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sz="2304" b="0" spc="0" dirty="0">
                <a:solidFill>
                  <a:srgbClr val="DFDFE4"/>
                </a:solidFill>
                <a:latin typeface="IBM Plex Sans"/>
                <a:cs typeface="IBM Plex Sans"/>
              </a:rPr>
              <a:t>A plain filter for what's worth automating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3"/>
          <p:cNvSpPr/>
          <p:nvPr/>
        </p:nvSpPr>
        <p:spPr>
          <a:xfrm>
            <a:off x="914400" y="5762625"/>
            <a:ext cx="8458200" cy="57150"/>
          </a:xfrm>
          <a:prstGeom prst="roundRect">
            <a:avLst>
              <a:gd name="adj" fmla="val 50000"/>
            </a:avLst>
          </a:prstGeom>
          <a:solidFill>
            <a:srgbClr val="DFDFE4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4"/>
          <p:cNvSpPr/>
          <p:nvPr/>
        </p:nvSpPr>
        <p:spPr>
          <a:xfrm>
            <a:off x="914400" y="5762625"/>
            <a:ext cx="2114550" cy="57150"/>
          </a:xfrm>
          <a:prstGeom prst="roundRect">
            <a:avLst>
              <a:gd name="adj" fmla="val 50000"/>
            </a:avLst>
          </a:prstGeom>
          <a:solidFill>
            <a:srgbClr val="2E6BFF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ext5"/>
          <p:cNvSpPr txBox="1"/>
          <p:nvPr/>
        </p:nvSpPr>
        <p:spPr>
          <a:xfrm>
            <a:off x="914400" y="914400"/>
            <a:ext cx="8915400" cy="3524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1152" b="0" spc="0" dirty="0">
                <a:solidFill>
                  <a:srgbClr val="141419"/>
                </a:solidFill>
                <a:latin typeface="IBM Plex Sans"/>
                <a:cs typeface="IBM Plex Sans"/>
              </a:rPr>
              <a:t>
    </a:t>
            </a:r>
            <a:r>
              <a:rPr lang="en-US" sz="1152" b="0" spc="0" dirty="0">
                <a:solidFill>
                  <a:srgbClr val="141419"/>
                </a:solidFill>
                <a:latin typeface="IBM Plex Sans"/>
                <a:cs typeface="IBM Plex Sans"/>
              </a:rPr>
              <a:t>NIGHT ACE</a:t>
            </a:r>
            <a:r>
              <a:rPr lang="en-US" sz="1152" b="0" spc="0" dirty="0">
                <a:solidFill>
                  <a:srgbClr val="141419"/>
                </a:solidFill>
                <a:latin typeface="IBM Plex Sans"/>
                <a:cs typeface="IBM Plex Sans"/>
              </a:rPr>
              <a:t>
    </a:t>
            </a:r>
            <a:r>
              <a:rPr lang="en-US" sz="1152" b="0" spc="0" dirty="0">
                <a:solidFill>
                  <a:srgbClr val="55555C"/>
                </a:solidFill>
                <a:latin typeface="IBM Plex Sans"/>
                <a:cs typeface="IBM Plex Sans"/>
              </a:rPr>
              <a:t>02 — 08</a:t>
            </a:r>
            <a:r>
              <a:rPr lang="en-US" sz="1152" b="0" spc="0" dirty="0">
                <a:solidFill>
                  <a:srgbClr val="141419"/>
                </a:solidFill>
                <a:latin typeface="IBM Plex Sans"/>
                <a:cs typeface="IBM Plex Sans"/>
              </a:rPr>
              <a:t>
  </a:t>
            </a:r>
          </a:p>
        </p:txBody>
      </p:sp>
      <p:sp>
        <p:nvSpPr>
          <p:cNvPr id="6" name="text6"/>
          <p:cNvSpPr txBox="1"/>
          <p:nvPr/>
        </p:nvSpPr>
        <p:spPr>
          <a:xfrm>
            <a:off x="914400" y="2333625"/>
            <a:ext cx="8915400" cy="304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lang="en-US" sz="7200" b="1" spc="-144" dirty="0">
                <a:solidFill>
                  <a:srgbClr val="141419"/>
                </a:solidFill>
                <a:latin typeface="Archivo"/>
                <a:cs typeface="Archivo"/>
              </a:rPr>
              <a:t>Automation pays</a:t>
            </a:r>
          </a:p>
          <a:p>
            <a:pPr algn="l">
              <a:lnSpc>
                <a:spcPct val="104000"/>
              </a:lnSpc>
            </a:pPr>
            <a:r>
              <a:rPr lang="en-US" sz="7200" b="1" spc="-144" dirty="0">
                <a:solidFill>
                  <a:srgbClr val="141419"/>
                </a:solidFill>
                <a:latin typeface="Archivo"/>
                <a:cs typeface="Archivo"/>
              </a:rPr>
              <a:t>on repetition,</a:t>
            </a:r>
          </a:p>
          <a:p>
            <a:pPr algn="l">
              <a:lnSpc>
                <a:spcPct val="104000"/>
              </a:lnSpc>
            </a:pPr>
            <a:r>
              <a:rPr lang="en-US" sz="7200" b="1" spc="-144" dirty="0">
                <a:solidFill>
                  <a:srgbClr val="141419"/>
                </a:solidFill>
                <a:latin typeface="Archivo"/>
                <a:cs typeface="Archivo"/>
              </a:rPr>
              <a:t>not intelligence</a:t>
            </a:r>
            <a:r>
              <a:rPr lang="en-US" sz="7200" b="1" spc="-144" dirty="0">
                <a:solidFill>
                  <a:srgbClr val="2E6BFF"/>
                </a:solidFill>
                <a:latin typeface="Archivo"/>
                <a:cs typeface="Archivo"/>
              </a:rPr>
              <a:t>.</a:t>
            </a:r>
          </a:p>
        </p:txBody>
      </p:sp>
      <p:sp>
        <p:nvSpPr>
          <p:cNvPr id="7" name="text7"/>
          <p:cNvSpPr txBox="1"/>
          <p:nvPr/>
        </p:nvSpPr>
        <p:spPr>
          <a:xfrm>
            <a:off x="914400" y="6200775"/>
            <a:ext cx="7886700" cy="533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sz="2304" b="0" spc="0" dirty="0">
                <a:solidFill>
                  <a:srgbClr val="55555C"/>
                </a:solidFill>
                <a:latin typeface="IBM Plex Sans"/>
                <a:cs typeface="IBM Plex Sans"/>
              </a:rPr>
              <a:t>The valuable version is boring on purpose.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3"/>
          <p:cNvSpPr/>
          <p:nvPr/>
        </p:nvSpPr>
        <p:spPr>
          <a:xfrm>
            <a:off x="914400" y="4097536"/>
            <a:ext cx="8458200" cy="57150"/>
          </a:xfrm>
          <a:prstGeom prst="roundRect">
            <a:avLst>
              <a:gd name="adj" fmla="val 50000"/>
            </a:avLst>
          </a:prstGeom>
          <a:solidFill>
            <a:srgbClr val="DFDFE4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4"/>
          <p:cNvSpPr/>
          <p:nvPr/>
        </p:nvSpPr>
        <p:spPr>
          <a:xfrm>
            <a:off x="914400" y="4097536"/>
            <a:ext cx="3171825" cy="57150"/>
          </a:xfrm>
          <a:prstGeom prst="roundRect">
            <a:avLst>
              <a:gd name="adj" fmla="val 50000"/>
            </a:avLst>
          </a:prstGeom>
          <a:solidFill>
            <a:srgbClr val="2E6BFF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ext5"/>
          <p:cNvSpPr txBox="1"/>
          <p:nvPr/>
        </p:nvSpPr>
        <p:spPr>
          <a:xfrm>
            <a:off x="914400" y="914400"/>
            <a:ext cx="8915400" cy="3524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1152" b="0" spc="0" dirty="0">
                <a:solidFill>
                  <a:srgbClr val="141419"/>
                </a:solidFill>
                <a:latin typeface="IBM Plex Sans"/>
                <a:cs typeface="IBM Plex Sans"/>
              </a:rPr>
              <a:t>
    </a:t>
            </a:r>
            <a:r>
              <a:rPr lang="en-US" sz="1152" b="0" spc="0" dirty="0">
                <a:solidFill>
                  <a:srgbClr val="141419"/>
                </a:solidFill>
                <a:latin typeface="IBM Plex Sans"/>
                <a:cs typeface="IBM Plex Sans"/>
              </a:rPr>
              <a:t>NIGHT ACE</a:t>
            </a:r>
            <a:r>
              <a:rPr lang="en-US" sz="1152" b="0" spc="0" dirty="0">
                <a:solidFill>
                  <a:srgbClr val="141419"/>
                </a:solidFill>
                <a:latin typeface="IBM Plex Sans"/>
                <a:cs typeface="IBM Plex Sans"/>
              </a:rPr>
              <a:t>
    </a:t>
            </a:r>
            <a:r>
              <a:rPr lang="en-US" sz="1152" b="0" spc="0" dirty="0">
                <a:solidFill>
                  <a:srgbClr val="55555C"/>
                </a:solidFill>
                <a:latin typeface="IBM Plex Sans"/>
                <a:cs typeface="IBM Plex Sans"/>
              </a:rPr>
              <a:t>03 — 08</a:t>
            </a:r>
            <a:r>
              <a:rPr lang="en-US" sz="1152" b="0" spc="0" dirty="0">
                <a:solidFill>
                  <a:srgbClr val="141419"/>
                </a:solidFill>
                <a:latin typeface="IBM Plex Sans"/>
                <a:cs typeface="IBM Plex Sans"/>
              </a:rPr>
              <a:t>
  </a:t>
            </a:r>
          </a:p>
        </p:txBody>
      </p:sp>
      <p:sp>
        <p:nvSpPr>
          <p:cNvPr id="6" name="text6"/>
          <p:cNvSpPr txBox="1"/>
          <p:nvPr/>
        </p:nvSpPr>
        <p:spPr>
          <a:xfrm>
            <a:off x="914400" y="2333625"/>
            <a:ext cx="8648700" cy="145911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lang="en-US" sz="4752" b="1" spc="-71" dirty="0">
                <a:solidFill>
                  <a:srgbClr val="141419"/>
                </a:solidFill>
                <a:latin typeface="Archivo"/>
                <a:cs typeface="Archivo"/>
              </a:rPr>
              <a:t>Run every task</a:t>
            </a:r>
          </a:p>
          <a:p>
            <a:pPr algn="l">
              <a:lnSpc>
                <a:spcPct val="110000"/>
              </a:lnSpc>
            </a:pPr>
            <a:r>
              <a:rPr lang="en-US" sz="4752" b="1" spc="-71" dirty="0">
                <a:solidFill>
                  <a:srgbClr val="141419"/>
                </a:solidFill>
                <a:latin typeface="Archivo"/>
                <a:cs typeface="Archivo"/>
              </a:rPr>
              <a:t>through four checks</a:t>
            </a:r>
          </a:p>
        </p:txBody>
      </p:sp>
      <p:sp>
        <p:nvSpPr>
          <p:cNvPr id="7" name="text7"/>
          <p:cNvSpPr txBox="1"/>
          <p:nvPr/>
        </p:nvSpPr>
        <p:spPr>
          <a:xfrm>
            <a:off x="914400" y="4897636"/>
            <a:ext cx="1504950" cy="4000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1872" b="1" spc="262" dirty="0">
                <a:solidFill>
                  <a:srgbClr val="55555C"/>
                </a:solidFill>
                <a:latin typeface="IBM Plex Mono"/>
                <a:cs typeface="IBM Plex Mono"/>
              </a:rPr>
              <a:t>01</a:t>
            </a:r>
          </a:p>
        </p:txBody>
      </p:sp>
      <p:sp>
        <p:nvSpPr>
          <p:cNvPr id="8" name="text8"/>
          <p:cNvSpPr txBox="1"/>
          <p:nvPr/>
        </p:nvSpPr>
        <p:spPr>
          <a:xfrm>
            <a:off x="1962150" y="4764286"/>
            <a:ext cx="4410075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2880" b="1" spc="0" dirty="0">
                <a:solidFill>
                  <a:srgbClr val="141419"/>
                </a:solidFill>
                <a:latin typeface="IBM Plex Sans"/>
                <a:cs typeface="IBM Plex Sans"/>
              </a:rPr>
              <a:t>Same steps every time</a:t>
            </a:r>
          </a:p>
        </p:txBody>
      </p:sp>
      <p:sp>
        <p:nvSpPr>
          <p:cNvPr id="9" name="text9"/>
          <p:cNvSpPr txBox="1"/>
          <p:nvPr/>
        </p:nvSpPr>
        <p:spPr>
          <a:xfrm>
            <a:off x="914400" y="5812036"/>
            <a:ext cx="1504950" cy="4000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1872" b="1" spc="262" dirty="0">
                <a:solidFill>
                  <a:srgbClr val="55555C"/>
                </a:solidFill>
                <a:latin typeface="IBM Plex Mono"/>
                <a:cs typeface="IBM Plex Mono"/>
              </a:rPr>
              <a:t>02</a:t>
            </a:r>
          </a:p>
        </p:txBody>
      </p:sp>
      <p:sp>
        <p:nvSpPr>
          <p:cNvPr id="10" name="text10"/>
          <p:cNvSpPr txBox="1"/>
          <p:nvPr/>
        </p:nvSpPr>
        <p:spPr>
          <a:xfrm>
            <a:off x="1962150" y="5678686"/>
            <a:ext cx="3952875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2880" b="1" spc="0" dirty="0">
                <a:solidFill>
                  <a:srgbClr val="141419"/>
                </a:solidFill>
                <a:latin typeface="IBM Plex Sans"/>
                <a:cs typeface="IBM Plex Sans"/>
              </a:rPr>
              <a:t>Rules, not judgment</a:t>
            </a:r>
          </a:p>
        </p:txBody>
      </p:sp>
      <p:sp>
        <p:nvSpPr>
          <p:cNvPr id="11" name="text11"/>
          <p:cNvSpPr txBox="1"/>
          <p:nvPr/>
        </p:nvSpPr>
        <p:spPr>
          <a:xfrm>
            <a:off x="914400" y="6726436"/>
            <a:ext cx="1504950" cy="4000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1872" b="1" spc="262" dirty="0">
                <a:solidFill>
                  <a:srgbClr val="55555C"/>
                </a:solidFill>
                <a:latin typeface="IBM Plex Mono"/>
                <a:cs typeface="IBM Plex Mono"/>
              </a:rPr>
              <a:t>03</a:t>
            </a:r>
          </a:p>
        </p:txBody>
      </p:sp>
      <p:sp>
        <p:nvSpPr>
          <p:cNvPr id="12" name="text12"/>
          <p:cNvSpPr txBox="1"/>
          <p:nvPr/>
        </p:nvSpPr>
        <p:spPr>
          <a:xfrm>
            <a:off x="1962150" y="6593086"/>
            <a:ext cx="4714875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2880" b="1" spc="0" dirty="0">
                <a:solidFill>
                  <a:srgbClr val="141419"/>
                </a:solidFill>
                <a:latin typeface="IBM Plex Sans"/>
                <a:cs typeface="IBM Plex Sans"/>
              </a:rPr>
              <a:t>Happens daily or weekly</a:t>
            </a:r>
          </a:p>
        </p:txBody>
      </p:sp>
      <p:sp>
        <p:nvSpPr>
          <p:cNvPr id="13" name="text13"/>
          <p:cNvSpPr txBox="1"/>
          <p:nvPr/>
        </p:nvSpPr>
        <p:spPr>
          <a:xfrm>
            <a:off x="914400" y="7640836"/>
            <a:ext cx="1504950" cy="4000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1872" b="1" spc="262" dirty="0">
                <a:solidFill>
                  <a:srgbClr val="55555C"/>
                </a:solidFill>
                <a:latin typeface="IBM Plex Mono"/>
                <a:cs typeface="IBM Plex Mono"/>
              </a:rPr>
              <a:t>04</a:t>
            </a:r>
          </a:p>
        </p:txBody>
      </p:sp>
      <p:sp>
        <p:nvSpPr>
          <p:cNvPr id="14" name="text14"/>
          <p:cNvSpPr txBox="1"/>
          <p:nvPr/>
        </p:nvSpPr>
        <p:spPr>
          <a:xfrm>
            <a:off x="1962150" y="7507486"/>
            <a:ext cx="5248275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2880" b="1" spc="0" dirty="0">
                <a:solidFill>
                  <a:srgbClr val="141419"/>
                </a:solidFill>
                <a:latin typeface="IBM Plex Sans"/>
                <a:cs typeface="IBM Plex Sans"/>
              </a:rPr>
              <a:t>Cheap to fix if it goes wrong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3"/>
          <p:cNvSpPr/>
          <p:nvPr/>
        </p:nvSpPr>
        <p:spPr>
          <a:xfrm>
            <a:off x="914400" y="11887200"/>
            <a:ext cx="8458200" cy="57150"/>
          </a:xfrm>
          <a:prstGeom prst="roundRect">
            <a:avLst>
              <a:gd name="adj" fmla="val 50000"/>
            </a:avLst>
          </a:prstGeom>
          <a:solidFill>
            <a:srgbClr val="DFDFE4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4"/>
          <p:cNvSpPr/>
          <p:nvPr/>
        </p:nvSpPr>
        <p:spPr>
          <a:xfrm>
            <a:off x="914400" y="11887200"/>
            <a:ext cx="4229100" cy="57150"/>
          </a:xfrm>
          <a:prstGeom prst="roundRect">
            <a:avLst>
              <a:gd name="adj" fmla="val 50000"/>
            </a:avLst>
          </a:prstGeom>
          <a:solidFill>
            <a:srgbClr val="2E6BFF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shape5"/>
          <p:cNvSpPr/>
          <p:nvPr/>
        </p:nvSpPr>
        <p:spPr>
          <a:xfrm>
            <a:off x="5133975" y="4557861"/>
            <a:ext cx="9525" cy="3962102"/>
          </a:xfrm>
          <a:prstGeom prst="rect">
            <a:avLst/>
          </a:prstGeom>
          <a:solidFill>
            <a:srgbClr val="DFDFE4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text6"/>
          <p:cNvSpPr txBox="1"/>
          <p:nvPr/>
        </p:nvSpPr>
        <p:spPr>
          <a:xfrm>
            <a:off x="914400" y="914400"/>
            <a:ext cx="8915400" cy="3524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1152" b="0" spc="0" dirty="0">
                <a:solidFill>
                  <a:srgbClr val="141419"/>
                </a:solidFill>
                <a:latin typeface="IBM Plex Sans"/>
                <a:cs typeface="IBM Plex Sans"/>
              </a:rPr>
              <a:t>
    </a:t>
            </a:r>
            <a:r>
              <a:rPr lang="en-US" sz="1152" b="0" spc="0" dirty="0">
                <a:solidFill>
                  <a:srgbClr val="141419"/>
                </a:solidFill>
                <a:latin typeface="IBM Plex Sans"/>
                <a:cs typeface="IBM Plex Sans"/>
              </a:rPr>
              <a:t>NIGHT ACE</a:t>
            </a:r>
            <a:r>
              <a:rPr lang="en-US" sz="1152" b="0" spc="0" dirty="0">
                <a:solidFill>
                  <a:srgbClr val="141419"/>
                </a:solidFill>
                <a:latin typeface="IBM Plex Sans"/>
                <a:cs typeface="IBM Plex Sans"/>
              </a:rPr>
              <a:t>
    </a:t>
            </a:r>
            <a:r>
              <a:rPr lang="en-US" sz="1152" b="0" spc="0" dirty="0">
                <a:solidFill>
                  <a:srgbClr val="55555C"/>
                </a:solidFill>
                <a:latin typeface="IBM Plex Sans"/>
                <a:cs typeface="IBM Plex Sans"/>
              </a:rPr>
              <a:t>04 — 08</a:t>
            </a:r>
            <a:r>
              <a:rPr lang="en-US" sz="1152" b="0" spc="0" dirty="0">
                <a:solidFill>
                  <a:srgbClr val="141419"/>
                </a:solidFill>
                <a:latin typeface="IBM Plex Sans"/>
                <a:cs typeface="IBM Plex Sans"/>
              </a:rPr>
              <a:t>
  </a:t>
            </a:r>
          </a:p>
        </p:txBody>
      </p:sp>
      <p:sp>
        <p:nvSpPr>
          <p:cNvPr id="7" name="text7"/>
          <p:cNvSpPr txBox="1"/>
          <p:nvPr/>
        </p:nvSpPr>
        <p:spPr>
          <a:xfrm>
            <a:off x="914400" y="4557861"/>
            <a:ext cx="4152900" cy="619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3744" b="1" spc="-37" dirty="0">
                <a:solidFill>
                  <a:srgbClr val="2E6BFF"/>
                </a:solidFill>
                <a:latin typeface="Archivo"/>
                <a:cs typeface="Archivo"/>
              </a:rPr>
              <a:t>Automate</a:t>
            </a:r>
          </a:p>
        </p:txBody>
      </p:sp>
      <p:sp>
        <p:nvSpPr>
          <p:cNvPr id="8" name="text8"/>
          <p:cNvSpPr txBox="1"/>
          <p:nvPr/>
        </p:nvSpPr>
        <p:spPr>
          <a:xfrm>
            <a:off x="914400" y="5443686"/>
            <a:ext cx="4152900" cy="253722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90000"/>
              </a:lnSpc>
            </a:pPr>
            <a:r>
              <a:rPr lang="en-US" sz="2448" b="0" spc="0" dirty="0">
                <a:solidFill>
                  <a:srgbClr val="55555C"/>
                </a:solidFill>
                <a:latin typeface="IBM Plex Sans"/>
                <a:cs typeface="IBM Plex Sans"/>
              </a:rPr>
              <a:t>Missed-call text-backs</a:t>
            </a:r>
          </a:p>
          <a:p>
            <a:pPr algn="l">
              <a:lnSpc>
                <a:spcPct val="190000"/>
              </a:lnSpc>
            </a:pPr>
            <a:r>
              <a:rPr lang="en-US" sz="2448" b="0" spc="0" dirty="0">
                <a:solidFill>
                  <a:srgbClr val="55555C"/>
                </a:solidFill>
                <a:latin typeface="IBM Plex Sans"/>
                <a:cs typeface="IBM Plex Sans"/>
              </a:rPr>
              <a:t>Appointment reminders</a:t>
            </a:r>
          </a:p>
          <a:p>
            <a:pPr algn="l">
              <a:lnSpc>
                <a:spcPct val="190000"/>
              </a:lnSpc>
            </a:pPr>
            <a:r>
              <a:rPr lang="en-US" sz="2448" b="0" spc="0" dirty="0">
                <a:solidFill>
                  <a:srgbClr val="55555C"/>
                </a:solidFill>
                <a:latin typeface="IBM Plex Sans"/>
                <a:cs typeface="IBM Plex Sans"/>
              </a:rPr>
              <a:t>Review requests</a:t>
            </a:r>
          </a:p>
          <a:p>
            <a:pPr algn="l">
              <a:lnSpc>
                <a:spcPct val="190000"/>
              </a:lnSpc>
            </a:pPr>
            <a:r>
              <a:rPr lang="en-US" sz="2448" b="0" spc="0" dirty="0">
                <a:solidFill>
                  <a:srgbClr val="55555C"/>
                </a:solidFill>
                <a:latin typeface="IBM Plex Sans"/>
                <a:cs typeface="IBM Plex Sans"/>
              </a:rPr>
              <a:t>FAQ replies</a:t>
            </a:r>
          </a:p>
        </p:txBody>
      </p:sp>
      <p:sp>
        <p:nvSpPr>
          <p:cNvPr id="9" name="text9"/>
          <p:cNvSpPr txBox="1"/>
          <p:nvPr/>
        </p:nvSpPr>
        <p:spPr>
          <a:xfrm>
            <a:off x="5686425" y="4557861"/>
            <a:ext cx="4143375" cy="619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3744" b="1" spc="-37" dirty="0">
                <a:solidFill>
                  <a:srgbClr val="141419"/>
                </a:solidFill>
                <a:latin typeface="Archivo"/>
                <a:cs typeface="Archivo"/>
              </a:rPr>
              <a:t>Keep human</a:t>
            </a:r>
          </a:p>
        </p:txBody>
      </p:sp>
      <p:sp>
        <p:nvSpPr>
          <p:cNvPr id="10" name="text10"/>
          <p:cNvSpPr txBox="1"/>
          <p:nvPr/>
        </p:nvSpPr>
        <p:spPr>
          <a:xfrm>
            <a:off x="5686425" y="5443686"/>
            <a:ext cx="4143375" cy="315247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90000"/>
              </a:lnSpc>
            </a:pPr>
            <a:r>
              <a:rPr lang="en-US" sz="2448" b="0" spc="0" dirty="0">
                <a:solidFill>
                  <a:srgbClr val="55555C"/>
                </a:solidFill>
                <a:latin typeface="IBM Plex Sans"/>
                <a:cs typeface="IBM Plex Sans"/>
              </a:rPr>
              <a:t>Pricing</a:t>
            </a:r>
          </a:p>
          <a:p>
            <a:pPr algn="l">
              <a:lnSpc>
                <a:spcPct val="190000"/>
              </a:lnSpc>
            </a:pPr>
            <a:r>
              <a:rPr lang="en-US" sz="2448" b="0" spc="0" dirty="0">
                <a:solidFill>
                  <a:srgbClr val="55555C"/>
                </a:solidFill>
                <a:latin typeface="IBM Plex Sans"/>
                <a:cs typeface="IBM Plex Sans"/>
              </a:rPr>
              <a:t>Complaints</a:t>
            </a:r>
          </a:p>
          <a:p>
            <a:pPr algn="l">
              <a:lnSpc>
                <a:spcPct val="190000"/>
              </a:lnSpc>
            </a:pPr>
            <a:r>
              <a:rPr lang="en-US" sz="2448" b="0" spc="0" dirty="0">
                <a:solidFill>
                  <a:srgbClr val="55555C"/>
                </a:solidFill>
                <a:latin typeface="IBM Plex Sans"/>
                <a:cs typeface="IBM Plex Sans"/>
              </a:rPr>
              <a:t>Negotiation</a:t>
            </a:r>
          </a:p>
          <a:p>
            <a:pPr algn="l">
              <a:lnSpc>
                <a:spcPct val="190000"/>
              </a:lnSpc>
            </a:pPr>
            <a:r>
              <a:rPr lang="en-US" sz="2448" b="0" spc="0" dirty="0">
                <a:solidFill>
                  <a:srgbClr val="55555C"/>
                </a:solidFill>
                <a:latin typeface="IBM Plex Sans"/>
                <a:cs typeface="IBM Plex Sans"/>
              </a:rPr>
              <a:t>Anything needing judgment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3"/>
          <p:cNvSpPr/>
          <p:nvPr/>
        </p:nvSpPr>
        <p:spPr>
          <a:xfrm>
            <a:off x="914400" y="11887200"/>
            <a:ext cx="8458200" cy="57150"/>
          </a:xfrm>
          <a:prstGeom prst="roundRect">
            <a:avLst>
              <a:gd name="adj" fmla="val 50000"/>
            </a:avLst>
          </a:prstGeom>
          <a:solidFill>
            <a:srgbClr val="DFDFE4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4"/>
          <p:cNvSpPr/>
          <p:nvPr/>
        </p:nvSpPr>
        <p:spPr>
          <a:xfrm>
            <a:off x="914400" y="11887200"/>
            <a:ext cx="5286375" cy="57150"/>
          </a:xfrm>
          <a:prstGeom prst="roundRect">
            <a:avLst>
              <a:gd name="adj" fmla="val 50000"/>
            </a:avLst>
          </a:prstGeom>
          <a:solidFill>
            <a:srgbClr val="2E6BFF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ext5"/>
          <p:cNvSpPr txBox="1"/>
          <p:nvPr/>
        </p:nvSpPr>
        <p:spPr>
          <a:xfrm>
            <a:off x="914400" y="914400"/>
            <a:ext cx="8915400" cy="3524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1152" b="0" spc="0" dirty="0">
                <a:solidFill>
                  <a:srgbClr val="141419"/>
                </a:solidFill>
                <a:latin typeface="IBM Plex Sans"/>
                <a:cs typeface="IBM Plex Sans"/>
              </a:rPr>
              <a:t>
    </a:t>
            </a:r>
            <a:r>
              <a:rPr lang="en-US" sz="1152" b="0" spc="0" dirty="0">
                <a:solidFill>
                  <a:srgbClr val="141419"/>
                </a:solidFill>
                <a:latin typeface="IBM Plex Sans"/>
                <a:cs typeface="IBM Plex Sans"/>
              </a:rPr>
              <a:t>NIGHT ACE</a:t>
            </a:r>
            <a:r>
              <a:rPr lang="en-US" sz="1152" b="0" spc="0" dirty="0">
                <a:solidFill>
                  <a:srgbClr val="141419"/>
                </a:solidFill>
                <a:latin typeface="IBM Plex Sans"/>
                <a:cs typeface="IBM Plex Sans"/>
              </a:rPr>
              <a:t>
    </a:t>
            </a:r>
            <a:r>
              <a:rPr lang="en-US" sz="1152" b="0" spc="0" dirty="0">
                <a:solidFill>
                  <a:srgbClr val="55555C"/>
                </a:solidFill>
                <a:latin typeface="IBM Plex Sans"/>
                <a:cs typeface="IBM Plex Sans"/>
              </a:rPr>
              <a:t>05 — 08</a:t>
            </a:r>
            <a:r>
              <a:rPr lang="en-US" sz="1152" b="0" spc="0" dirty="0">
                <a:solidFill>
                  <a:srgbClr val="141419"/>
                </a:solidFill>
                <a:latin typeface="IBM Plex Sans"/>
                <a:cs typeface="IBM Plex Sans"/>
              </a:rPr>
              <a:t>
  </a:t>
            </a:r>
          </a:p>
        </p:txBody>
      </p:sp>
      <p:sp>
        <p:nvSpPr>
          <p:cNvPr id="6" name="text6"/>
          <p:cNvSpPr txBox="1"/>
          <p:nvPr/>
        </p:nvSpPr>
        <p:spPr>
          <a:xfrm>
            <a:off x="914400" y="5784652"/>
            <a:ext cx="8458200" cy="158472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lang="en-US" sz="4320" b="1" spc="-22" dirty="0">
                <a:solidFill>
                  <a:srgbClr val="141419"/>
                </a:solidFill>
                <a:latin typeface="IBM Plex Sans"/>
                <a:cs typeface="IBM Plex Sans"/>
              </a:rPr>
              <a:t>“The goal isn’t fewer people. It’s fewer interruptions.”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3"/>
          <p:cNvSpPr/>
          <p:nvPr/>
        </p:nvSpPr>
        <p:spPr>
          <a:xfrm>
            <a:off x="914400" y="4097536"/>
            <a:ext cx="8458200" cy="57150"/>
          </a:xfrm>
          <a:prstGeom prst="roundRect">
            <a:avLst>
              <a:gd name="adj" fmla="val 50000"/>
            </a:avLst>
          </a:prstGeom>
          <a:solidFill>
            <a:srgbClr val="DFDFE4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4"/>
          <p:cNvSpPr/>
          <p:nvPr/>
        </p:nvSpPr>
        <p:spPr>
          <a:xfrm>
            <a:off x="914400" y="4097536"/>
            <a:ext cx="6343650" cy="57150"/>
          </a:xfrm>
          <a:prstGeom prst="roundRect">
            <a:avLst>
              <a:gd name="adj" fmla="val 50000"/>
            </a:avLst>
          </a:prstGeom>
          <a:solidFill>
            <a:srgbClr val="2E6BFF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ext5"/>
          <p:cNvSpPr txBox="1"/>
          <p:nvPr/>
        </p:nvSpPr>
        <p:spPr>
          <a:xfrm>
            <a:off x="914400" y="914400"/>
            <a:ext cx="8915400" cy="3524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1152" b="0" spc="0" dirty="0">
                <a:solidFill>
                  <a:srgbClr val="141419"/>
                </a:solidFill>
                <a:latin typeface="IBM Plex Sans"/>
                <a:cs typeface="IBM Plex Sans"/>
              </a:rPr>
              <a:t>
    </a:t>
            </a:r>
            <a:r>
              <a:rPr lang="en-US" sz="1152" b="0" spc="0" dirty="0">
                <a:solidFill>
                  <a:srgbClr val="141419"/>
                </a:solidFill>
                <a:latin typeface="IBM Plex Sans"/>
                <a:cs typeface="IBM Plex Sans"/>
              </a:rPr>
              <a:t>NIGHT ACE</a:t>
            </a:r>
            <a:r>
              <a:rPr lang="en-US" sz="1152" b="0" spc="0" dirty="0">
                <a:solidFill>
                  <a:srgbClr val="141419"/>
                </a:solidFill>
                <a:latin typeface="IBM Plex Sans"/>
                <a:cs typeface="IBM Plex Sans"/>
              </a:rPr>
              <a:t>
    </a:t>
            </a:r>
            <a:r>
              <a:rPr lang="en-US" sz="1152" b="0" spc="0" dirty="0">
                <a:solidFill>
                  <a:srgbClr val="55555C"/>
                </a:solidFill>
                <a:latin typeface="IBM Plex Sans"/>
                <a:cs typeface="IBM Plex Sans"/>
              </a:rPr>
              <a:t>06 — 08</a:t>
            </a:r>
            <a:r>
              <a:rPr lang="en-US" sz="1152" b="0" spc="0" dirty="0">
                <a:solidFill>
                  <a:srgbClr val="141419"/>
                </a:solidFill>
                <a:latin typeface="IBM Plex Sans"/>
                <a:cs typeface="IBM Plex Sans"/>
              </a:rPr>
              <a:t>
  </a:t>
            </a:r>
          </a:p>
        </p:txBody>
      </p:sp>
      <p:sp>
        <p:nvSpPr>
          <p:cNvPr id="6" name="text6"/>
          <p:cNvSpPr txBox="1"/>
          <p:nvPr/>
        </p:nvSpPr>
        <p:spPr>
          <a:xfrm>
            <a:off x="914400" y="2333625"/>
            <a:ext cx="8648700" cy="145911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lang="en-US" sz="4752" b="1" spc="-71" dirty="0">
                <a:solidFill>
                  <a:srgbClr val="141419"/>
                </a:solidFill>
                <a:latin typeface="Archivo"/>
                <a:cs typeface="Archivo"/>
              </a:rPr>
              <a:t>What one automation</a:t>
            </a:r>
          </a:p>
          <a:p>
            <a:pPr algn="l">
              <a:lnSpc>
                <a:spcPct val="110000"/>
              </a:lnSpc>
            </a:pPr>
            <a:r>
              <a:rPr lang="en-US" sz="4752" b="1" spc="-71" dirty="0">
                <a:solidFill>
                  <a:srgbClr val="141419"/>
                </a:solidFill>
                <a:latin typeface="Archivo"/>
                <a:cs typeface="Archivo"/>
              </a:rPr>
              <a:t>looks like</a:t>
            </a:r>
          </a:p>
        </p:txBody>
      </p:sp>
      <p:sp>
        <p:nvSpPr>
          <p:cNvPr id="7" name="text7"/>
          <p:cNvSpPr txBox="1"/>
          <p:nvPr/>
        </p:nvSpPr>
        <p:spPr>
          <a:xfrm>
            <a:off x="914400" y="4840486"/>
            <a:ext cx="3600450" cy="4476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2160" b="1" spc="216" dirty="0">
                <a:solidFill>
                  <a:srgbClr val="141419"/>
                </a:solidFill>
                <a:latin typeface="IBM Plex Mono"/>
                <a:cs typeface="IBM Plex Mono"/>
              </a:rPr>
              <a:t>MISSED CALL</a:t>
            </a:r>
          </a:p>
        </p:txBody>
      </p:sp>
      <p:sp>
        <p:nvSpPr>
          <p:cNvPr id="8" name="text8"/>
          <p:cNvSpPr txBox="1"/>
          <p:nvPr/>
        </p:nvSpPr>
        <p:spPr>
          <a:xfrm>
            <a:off x="4057650" y="4840486"/>
            <a:ext cx="3469035" cy="4476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2160" b="0" spc="43" dirty="0">
                <a:solidFill>
                  <a:srgbClr val="55555C"/>
                </a:solidFill>
                <a:latin typeface="IBM Plex Mono"/>
                <a:cs typeface="IBM Plex Mono"/>
              </a:rPr>
              <a:t>→  incoming logged</a:t>
            </a:r>
          </a:p>
        </p:txBody>
      </p:sp>
      <p:sp>
        <p:nvSpPr>
          <p:cNvPr id="9" name="text9"/>
          <p:cNvSpPr txBox="1"/>
          <p:nvPr/>
        </p:nvSpPr>
        <p:spPr>
          <a:xfrm>
            <a:off x="914400" y="5592961"/>
            <a:ext cx="3600450" cy="4476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2160" b="1" spc="216" dirty="0">
                <a:solidFill>
                  <a:srgbClr val="141419"/>
                </a:solidFill>
                <a:latin typeface="IBM Plex Mono"/>
                <a:cs typeface="IBM Plex Mono"/>
              </a:rPr>
              <a:t>AUTO-TEXT</a:t>
            </a:r>
          </a:p>
        </p:txBody>
      </p:sp>
      <p:sp>
        <p:nvSpPr>
          <p:cNvPr id="10" name="text10"/>
          <p:cNvSpPr txBox="1"/>
          <p:nvPr/>
        </p:nvSpPr>
        <p:spPr>
          <a:xfrm>
            <a:off x="4057650" y="5592961"/>
            <a:ext cx="4886325" cy="4476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2160" b="0" spc="43" dirty="0">
                <a:solidFill>
                  <a:srgbClr val="55555C"/>
                </a:solidFill>
                <a:latin typeface="IBM Plex Mono"/>
                <a:cs typeface="IBM Plex Mono"/>
              </a:rPr>
              <a:t>→  reply with booking link</a:t>
            </a:r>
          </a:p>
        </p:txBody>
      </p:sp>
      <p:sp>
        <p:nvSpPr>
          <p:cNvPr id="11" name="text11"/>
          <p:cNvSpPr txBox="1"/>
          <p:nvPr/>
        </p:nvSpPr>
        <p:spPr>
          <a:xfrm>
            <a:off x="914400" y="6345436"/>
            <a:ext cx="3600450" cy="4476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2160" b="1" spc="216" dirty="0">
                <a:solidFill>
                  <a:srgbClr val="2E6BFF"/>
                </a:solidFill>
                <a:latin typeface="IBM Plex Mono"/>
                <a:cs typeface="IBM Plex Mono"/>
              </a:rPr>
              <a:t>BOOKED</a:t>
            </a:r>
          </a:p>
        </p:txBody>
      </p:sp>
      <p:sp>
        <p:nvSpPr>
          <p:cNvPr id="12" name="text12"/>
          <p:cNvSpPr txBox="1"/>
          <p:nvPr/>
        </p:nvSpPr>
        <p:spPr>
          <a:xfrm>
            <a:off x="4057650" y="6345436"/>
            <a:ext cx="4532114" cy="4476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2160" b="0" spc="43" dirty="0">
                <a:solidFill>
                  <a:srgbClr val="55555C"/>
                </a:solidFill>
                <a:latin typeface="IBM Plex Mono"/>
                <a:cs typeface="IBM Plex Mono"/>
              </a:rPr>
              <a:t>→  slot on your calendar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3"/>
          <p:cNvSpPr/>
          <p:nvPr/>
        </p:nvSpPr>
        <p:spPr>
          <a:xfrm>
            <a:off x="914400" y="10096500"/>
            <a:ext cx="8458200" cy="57150"/>
          </a:xfrm>
          <a:prstGeom prst="roundRect">
            <a:avLst>
              <a:gd name="adj" fmla="val 50000"/>
            </a:avLst>
          </a:prstGeom>
          <a:solidFill>
            <a:srgbClr val="DFDFE4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4"/>
          <p:cNvSpPr/>
          <p:nvPr/>
        </p:nvSpPr>
        <p:spPr>
          <a:xfrm>
            <a:off x="914400" y="10096500"/>
            <a:ext cx="7400925" cy="57150"/>
          </a:xfrm>
          <a:prstGeom prst="roundRect">
            <a:avLst>
              <a:gd name="adj" fmla="val 50000"/>
            </a:avLst>
          </a:prstGeom>
          <a:solidFill>
            <a:srgbClr val="2E6BFF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ext5"/>
          <p:cNvSpPr txBox="1"/>
          <p:nvPr/>
        </p:nvSpPr>
        <p:spPr>
          <a:xfrm>
            <a:off x="914400" y="914400"/>
            <a:ext cx="8915400" cy="3524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1152" b="0" spc="0" dirty="0">
                <a:solidFill>
                  <a:srgbClr val="141419"/>
                </a:solidFill>
                <a:latin typeface="IBM Plex Sans"/>
                <a:cs typeface="IBM Plex Sans"/>
              </a:rPr>
              <a:t>
    </a:t>
            </a:r>
            <a:r>
              <a:rPr lang="en-US" sz="1152" b="0" spc="0" dirty="0">
                <a:solidFill>
                  <a:srgbClr val="141419"/>
                </a:solidFill>
                <a:latin typeface="IBM Plex Sans"/>
                <a:cs typeface="IBM Plex Sans"/>
              </a:rPr>
              <a:t>NIGHT ACE</a:t>
            </a:r>
            <a:r>
              <a:rPr lang="en-US" sz="1152" b="0" spc="0" dirty="0">
                <a:solidFill>
                  <a:srgbClr val="141419"/>
                </a:solidFill>
                <a:latin typeface="IBM Plex Sans"/>
                <a:cs typeface="IBM Plex Sans"/>
              </a:rPr>
              <a:t>
    </a:t>
            </a:r>
            <a:r>
              <a:rPr lang="en-US" sz="1152" b="0" spc="0" dirty="0">
                <a:solidFill>
                  <a:srgbClr val="55555C"/>
                </a:solidFill>
                <a:latin typeface="IBM Plex Sans"/>
                <a:cs typeface="IBM Plex Sans"/>
              </a:rPr>
              <a:t>07 — 08</a:t>
            </a:r>
            <a:r>
              <a:rPr lang="en-US" sz="1152" b="0" spc="0" dirty="0">
                <a:solidFill>
                  <a:srgbClr val="141419"/>
                </a:solidFill>
                <a:latin typeface="IBM Plex Sans"/>
                <a:cs typeface="IBM Plex Sans"/>
              </a:rPr>
              <a:t>
  </a:t>
            </a:r>
          </a:p>
        </p:txBody>
      </p:sp>
      <p:sp>
        <p:nvSpPr>
          <p:cNvPr id="6" name="text6"/>
          <p:cNvSpPr txBox="1"/>
          <p:nvPr/>
        </p:nvSpPr>
        <p:spPr>
          <a:xfrm>
            <a:off x="914400" y="5668268"/>
            <a:ext cx="8915400" cy="220712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4000"/>
              </a:lnSpc>
            </a:pPr>
            <a:r>
              <a:rPr lang="en-US" sz="17136" b="0" spc="-428" dirty="0">
                <a:solidFill>
                  <a:srgbClr val="141419"/>
                </a:solidFill>
                <a:latin typeface="Archivo Black"/>
                <a:cs typeface="Archivo Black"/>
              </a:rPr>
              <a:t>small</a:t>
            </a:r>
            <a:r>
              <a:rPr lang="en-US" sz="17136" b="0" spc="-428" dirty="0">
                <a:solidFill>
                  <a:srgbClr val="2E6BFF"/>
                </a:solidFill>
                <a:latin typeface="Archivo Black"/>
                <a:cs typeface="Archivo Black"/>
              </a:rPr>
              <a:t>.</a:t>
            </a:r>
          </a:p>
        </p:txBody>
      </p:sp>
      <p:sp>
        <p:nvSpPr>
          <p:cNvPr id="7" name="text7"/>
          <p:cNvSpPr txBox="1"/>
          <p:nvPr/>
        </p:nvSpPr>
        <p:spPr>
          <a:xfrm>
            <a:off x="914400" y="8294489"/>
            <a:ext cx="8648700" cy="145911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lang="en-US" sz="4752" b="1" spc="-71" dirty="0">
                <a:solidFill>
                  <a:srgbClr val="141419"/>
                </a:solidFill>
                <a:latin typeface="Archivo"/>
                <a:cs typeface="Archivo"/>
              </a:rPr>
              <a:t>Start smaller</a:t>
            </a:r>
          </a:p>
          <a:p>
            <a:pPr algn="l">
              <a:lnSpc>
                <a:spcPct val="110000"/>
              </a:lnSpc>
            </a:pPr>
            <a:r>
              <a:rPr lang="en-US" sz="4752" b="1" spc="-71" dirty="0">
                <a:solidFill>
                  <a:srgbClr val="141419"/>
                </a:solidFill>
                <a:latin typeface="Archivo"/>
                <a:cs typeface="Archivo"/>
              </a:rPr>
              <a:t>than feels impressive</a:t>
            </a:r>
          </a:p>
        </p:txBody>
      </p:sp>
      <p:sp>
        <p:nvSpPr>
          <p:cNvPr id="8" name="text8"/>
          <p:cNvSpPr txBox="1"/>
          <p:nvPr/>
        </p:nvSpPr>
        <p:spPr>
          <a:xfrm>
            <a:off x="914400" y="10572750"/>
            <a:ext cx="7886700" cy="144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sz="2304" b="0" spc="0" dirty="0">
                <a:solidFill>
                  <a:srgbClr val="55555C"/>
                </a:solidFill>
                <a:latin typeface="IBM Plex Sans"/>
                <a:cs typeface="IBM Plex Sans"/>
              </a:rPr>
              <a:t>Pick one repeated task. Automate only that, and let it run for a month before touching the next one. Boring wins compound.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3"/>
          <p:cNvSpPr/>
          <p:nvPr/>
        </p:nvSpPr>
        <p:spPr>
          <a:xfrm>
            <a:off x="914400" y="6361063"/>
            <a:ext cx="8458200" cy="57150"/>
          </a:xfrm>
          <a:prstGeom prst="roundRect">
            <a:avLst>
              <a:gd name="adj" fmla="val 50000"/>
            </a:avLst>
          </a:prstGeom>
          <a:solidFill>
            <a:srgbClr val="55555C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4"/>
          <p:cNvSpPr/>
          <p:nvPr/>
        </p:nvSpPr>
        <p:spPr>
          <a:xfrm>
            <a:off x="914400" y="6361063"/>
            <a:ext cx="8458200" cy="57150"/>
          </a:xfrm>
          <a:prstGeom prst="roundRect">
            <a:avLst>
              <a:gd name="adj" fmla="val 50000"/>
            </a:avLst>
          </a:prstGeom>
          <a:solidFill>
            <a:srgbClr val="2E6BFF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ext5"/>
          <p:cNvSpPr txBox="1"/>
          <p:nvPr/>
        </p:nvSpPr>
        <p:spPr>
          <a:xfrm>
            <a:off x="914400" y="914400"/>
            <a:ext cx="8915400" cy="3524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1152" b="0" spc="0" dirty="0">
                <a:solidFill>
                  <a:srgbClr val="F5F5F5"/>
                </a:solidFill>
                <a:latin typeface="IBM Plex Sans"/>
                <a:cs typeface="IBM Plex Sans"/>
              </a:rPr>
              <a:t>
    </a:t>
            </a:r>
            <a:r>
              <a:rPr lang="en-US" sz="1152" b="0" spc="0" dirty="0">
                <a:solidFill>
                  <a:srgbClr val="F5F5F5"/>
                </a:solidFill>
                <a:latin typeface="IBM Plex Sans"/>
                <a:cs typeface="IBM Plex Sans"/>
              </a:rPr>
              <a:t>NIGHT ACE</a:t>
            </a:r>
            <a:r>
              <a:rPr lang="en-US" sz="1152" b="0" spc="0" dirty="0">
                <a:solidFill>
                  <a:srgbClr val="F5F5F5"/>
                </a:solidFill>
                <a:latin typeface="IBM Plex Sans"/>
                <a:cs typeface="IBM Plex Sans"/>
              </a:rPr>
              <a:t>
    </a:t>
            </a:r>
            <a:r>
              <a:rPr lang="en-US" sz="1152" b="0" spc="0" dirty="0">
                <a:solidFill>
                  <a:srgbClr val="DFDFE4"/>
                </a:solidFill>
                <a:latin typeface="IBM Plex Sans"/>
                <a:cs typeface="IBM Plex Sans"/>
              </a:rPr>
              <a:t>08 — 08</a:t>
            </a:r>
            <a:r>
              <a:rPr lang="en-US" sz="1152" b="0" spc="0" dirty="0">
                <a:solidFill>
                  <a:srgbClr val="F5F5F5"/>
                </a:solidFill>
                <a:latin typeface="IBM Plex Sans"/>
                <a:cs typeface="IBM Plex Sans"/>
              </a:rPr>
              <a:t>
  </a:t>
            </a:r>
          </a:p>
        </p:txBody>
      </p:sp>
      <p:sp>
        <p:nvSpPr>
          <p:cNvPr id="6" name="text6"/>
          <p:cNvSpPr txBox="1"/>
          <p:nvPr/>
        </p:nvSpPr>
        <p:spPr>
          <a:xfrm>
            <a:off x="914400" y="4317653"/>
            <a:ext cx="8915400" cy="17005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lang="en-US" sz="5904" b="1" spc="-118" dirty="0">
                <a:solidFill>
                  <a:srgbClr val="F5F5F5"/>
                </a:solidFill>
                <a:latin typeface="Archivo"/>
                <a:cs typeface="Archivo"/>
              </a:rPr>
              <a:t>Done wondering</a:t>
            </a:r>
          </a:p>
          <a:p>
            <a:pPr algn="l">
              <a:lnSpc>
                <a:spcPct val="104000"/>
              </a:lnSpc>
            </a:pPr>
            <a:r>
              <a:rPr lang="en-US" sz="5904" b="1" spc="-118" dirty="0">
                <a:solidFill>
                  <a:srgbClr val="F5F5F5"/>
                </a:solidFill>
                <a:latin typeface="Archivo"/>
                <a:cs typeface="Archivo"/>
              </a:rPr>
              <a:t>what's automatable</a:t>
            </a:r>
            <a:r>
              <a:rPr lang="en-US" sz="5904" b="1" spc="-118" dirty="0">
                <a:solidFill>
                  <a:srgbClr val="2E6BFF"/>
                </a:solidFill>
                <a:latin typeface="Archivo"/>
                <a:cs typeface="Archivo"/>
              </a:rPr>
              <a:t>?</a:t>
            </a:r>
          </a:p>
        </p:txBody>
      </p:sp>
      <p:sp>
        <p:nvSpPr>
          <p:cNvPr id="7" name="text7"/>
          <p:cNvSpPr txBox="1"/>
          <p:nvPr/>
        </p:nvSpPr>
        <p:spPr>
          <a:xfrm>
            <a:off x="914400" y="6799213"/>
            <a:ext cx="8267700" cy="148485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lang="en-US" sz="2448" b="1" spc="0" dirty="0">
                <a:solidFill>
                  <a:srgbClr val="F5F5F5"/>
                </a:solidFill>
                <a:latin typeface="IBM Plex Sans"/>
                <a:cs typeface="IBM Plex Sans"/>
              </a:rPr>
              <a:t>Send Night Ace the most repetitive task in your week — we'll tell you in plain language whether it's worth automating.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NightAce">
  <a:themeElements>
    <a:clrScheme name="NightAce">
      <a:dk1>
        <a:srgbClr val="141419"/>
      </a:dk1>
      <a:lt1>
        <a:srgbClr val="F5F5F5"/>
      </a:lt1>
      <a:dk2>
        <a:srgbClr val="55555C"/>
      </a:dk2>
      <a:lt2>
        <a:srgbClr val="DFDFE4"/>
      </a:lt2>
      <a:accent1>
        <a:srgbClr val="2E6BFF"/>
      </a:accent1>
      <a:accent2>
        <a:srgbClr val="2E6BFF"/>
      </a:accent2>
      <a:accent3>
        <a:srgbClr val="2E6BFF"/>
      </a:accent3>
      <a:accent4>
        <a:srgbClr val="2E6BFF"/>
      </a:accent4>
      <a:accent5>
        <a:srgbClr val="2E6BFF"/>
      </a:accent5>
      <a:accent6>
        <a:srgbClr val="2E6BFF"/>
      </a:accent6>
      <a:hlink>
        <a:srgbClr val="2E6BFF"/>
      </a:hlink>
      <a:folHlink>
        <a:srgbClr val="7C5CFF"/>
      </a:folHlink>
    </a:clrScheme>
    <a:fontScheme name="NightAce">
      <a:majorFont>
        <a:latin typeface="Archivo Black"/>
        <a:ea typeface=""/>
        <a:cs typeface=""/>
      </a:majorFont>
      <a:minorFont>
        <a:latin typeface="IBM Plex Sans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