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287000" cy="12858750"/>
  <p:notesSz cx="10287000" cy="1285875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01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6732389"/>
            <a:ext cx="9029700" cy="2224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7280" b="0" spc="-432" dirty="0">
                <a:solidFill>
                  <a:srgbClr val="141419"/>
                </a:solidFill>
                <a:latin typeface="Archivo Black"/>
                <a:cs typeface="Archivo Black"/>
              </a:rPr>
              <a:t>taste</a:t>
            </a:r>
            <a:r>
              <a:rPr lang="en-US" sz="17280" b="0" spc="-432" dirty="0">
                <a:solidFill>
                  <a:srgbClr val="2E6BFF"/>
                </a:solidFill>
                <a:latin typeface="Archivo Black"/>
                <a:cs typeface="Archivo Black"/>
              </a:rPr>
              <a:t>?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9376470"/>
            <a:ext cx="8572500" cy="12915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176" b="1" spc="-63" dirty="0">
                <a:solidFill>
                  <a:srgbClr val="141419"/>
                </a:solidFill>
                <a:latin typeface="Archivo"/>
                <a:cs typeface="Archivo"/>
              </a:rPr>
              <a:t>Taste starts arguments.</a:t>
            </a:r>
          </a:p>
          <a:p>
            <a:pPr algn="l">
              <a:lnSpc>
                <a:spcPct val="110000"/>
              </a:lnSpc>
            </a:pPr>
            <a:r>
              <a:rPr lang="en-US" sz="4176" b="1" spc="-63" dirty="0">
                <a:solidFill>
                  <a:srgbClr val="141419"/>
                </a:solidFill>
                <a:latin typeface="Archivo"/>
                <a:cs typeface="Archivo"/>
              </a:rPr>
              <a:t>Principles end them.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10109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1010900"/>
            <a:ext cx="105727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1487150"/>
            <a:ext cx="78105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The five rules Night Ace designs by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02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6135439"/>
            <a:ext cx="9029700" cy="197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5264" b="0" spc="-382" dirty="0">
                <a:solidFill>
                  <a:srgbClr val="141419"/>
                </a:solidFill>
                <a:latin typeface="Archivo Black"/>
                <a:cs typeface="Archivo Black"/>
              </a:rPr>
              <a:t>decide</a:t>
            </a:r>
            <a:r>
              <a:rPr lang="en-US" sz="15264" b="0" spc="-382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5287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Why principles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96393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9639300"/>
            <a:ext cx="211455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115550"/>
            <a:ext cx="78105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Debates about how something looks can run forever. Debates about a rule end quickly. A principle is a design decision you make once — then reuse on every screen that follows.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03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5903714"/>
            <a:ext cx="9029700" cy="3120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24480" b="0" spc="-612" dirty="0">
                <a:solidFill>
                  <a:srgbClr val="141419"/>
                </a:solidFill>
                <a:latin typeface="Archivo Black"/>
                <a:cs typeface="Archivo Black"/>
              </a:rPr>
              <a:t>one</a:t>
            </a:r>
            <a:r>
              <a:rPr lang="en-US" sz="24480" b="0" spc="-612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94431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One job per screen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05537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0553700"/>
            <a:ext cx="317182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1029950"/>
            <a:ext cx="78105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Every screen gets one job, and the layout should make it obvious. When everything is bold, nothing is.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04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6359723"/>
            <a:ext cx="9029700" cy="22071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7136" b="0" spc="-428" dirty="0">
                <a:solidFill>
                  <a:srgbClr val="141419"/>
                </a:solidFill>
                <a:latin typeface="Archivo Black"/>
                <a:cs typeface="Archivo Black"/>
              </a:rPr>
              <a:t>space</a:t>
            </a:r>
            <a:r>
              <a:rPr lang="en-US" sz="17136" b="0" spc="-428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9859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Whitespace is structure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00965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0096500"/>
            <a:ext cx="422910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572750"/>
            <a:ext cx="78105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Empty space isn't wasted space — it's how readers know what belongs together. Crowded layouts push that work onto the visitor.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05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5292328"/>
            <a:ext cx="9029700" cy="25830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20160" b="0" spc="-504" dirty="0">
                <a:solidFill>
                  <a:srgbClr val="141419"/>
                </a:solidFill>
                <a:latin typeface="Archivo Black"/>
                <a:cs typeface="Archivo Black"/>
              </a:rPr>
              <a:t>type</a:t>
            </a:r>
            <a:r>
              <a:rPr lang="en-US" sz="20160" b="0" spc="-504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294489"/>
            <a:ext cx="8572500" cy="14591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Type does the</a:t>
            </a:r>
          </a:p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heavy lifting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00965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0096500"/>
            <a:ext cx="528637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572750"/>
            <a:ext cx="78105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Most of an interface is text. Get the type right — size, spacing, contrast — and the design is mostly finished before a single decoration appears.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06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6359723"/>
            <a:ext cx="9029700" cy="22071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7136" b="0" spc="-428" dirty="0">
                <a:solidFill>
                  <a:srgbClr val="141419"/>
                </a:solidFill>
                <a:latin typeface="Archivo Black"/>
                <a:cs typeface="Archivo Black"/>
              </a:rPr>
              <a:t>again</a:t>
            </a:r>
            <a:r>
              <a:rPr lang="en-US" sz="17136" b="0" spc="-428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9859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Consistency beats novelty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00965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0096500"/>
            <a:ext cx="634365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572750"/>
            <a:ext cx="78105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The second time a pattern appears, it should look exactly like the first. People learn an interface once; don't make them relearn it on every page.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07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5983784"/>
            <a:ext cx="9029700" cy="25830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20160" b="0" spc="-504" dirty="0">
                <a:solidFill>
                  <a:srgbClr val="141419"/>
                </a:solidFill>
                <a:latin typeface="Archivo Black"/>
                <a:cs typeface="Archivo Black"/>
              </a:rPr>
              <a:t>less</a:t>
            </a:r>
            <a:r>
              <a:rPr lang="en-US" sz="20160" b="0" spc="-504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9859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Everything earns its place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00965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0096500"/>
            <a:ext cx="740092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572750"/>
            <a:ext cx="78105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If removing an element changes nothing, it was decoration. Remove things until something breaks, then put only that one thing back.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08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5660975"/>
            <a:ext cx="9029700" cy="16877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2960" b="0" spc="-324" dirty="0">
                <a:solidFill>
                  <a:srgbClr val="141419"/>
                </a:solidFill>
                <a:latin typeface="Archivo Black"/>
                <a:cs typeface="Archivo Black"/>
              </a:rPr>
              <a:t>purpose</a:t>
            </a:r>
            <a:r>
              <a:rPr lang="en-US" sz="12960" b="0" spc="-324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7767786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Designed on purpose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8878342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8878342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9354592"/>
            <a:ext cx="78105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Principles are why a design survives contact with real content.</a:t>
            </a:r>
          </a:p>
        </p:txBody>
      </p:sp>
      <p:sp>
        <p:nvSpPr>
          <p:cNvPr id="10" name="cta"/>
          <p:cNvSpPr txBox="1"/>
          <p:nvPr/>
        </p:nvSpPr>
        <p:spPr>
          <a:xfrm>
            <a:off x="914400" y="10535692"/>
            <a:ext cx="7810500" cy="14848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en-US" sz="2448" b="1" spc="0" dirty="0">
                <a:solidFill>
                  <a:srgbClr val="141419"/>
                </a:solidFill>
                <a:latin typeface="IBM Plex Sans"/>
                <a:cs typeface="IBM Plex Sans"/>
              </a:rPr>
              <a:t>Want a site designed on purpose? Send Night Ace a message — we'll show you our reasoning, not just our portfolio.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NightAce">
  <a:themeElements>
    <a:clrScheme name="NightAce">
      <a:dk1>
        <a:srgbClr val="141419"/>
      </a:dk1>
      <a:lt1>
        <a:srgbClr val="F5F5F5"/>
      </a:lt1>
      <a:dk2>
        <a:srgbClr val="55555C"/>
      </a:dk2>
      <a:lt2>
        <a:srgbClr val="DFDFE4"/>
      </a:lt2>
      <a:accent1>
        <a:srgbClr val="2E6BFF"/>
      </a:accent1>
      <a:accent2>
        <a:srgbClr val="2E6BFF"/>
      </a:accent2>
      <a:accent3>
        <a:srgbClr val="2E6BFF"/>
      </a:accent3>
      <a:accent4>
        <a:srgbClr val="2E6BFF"/>
      </a:accent4>
      <a:accent5>
        <a:srgbClr val="2E6BFF"/>
      </a:accent5>
      <a:accent6>
        <a:srgbClr val="2E6BFF"/>
      </a:accent6>
      <a:hlink>
        <a:srgbClr val="2E6BFF"/>
      </a:hlink>
      <a:folHlink>
        <a:srgbClr val="7C5CFF"/>
      </a:folHlink>
    </a:clrScheme>
    <a:fontScheme name="NightAce">
      <a:majorFont>
        <a:latin typeface="Archivo Black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